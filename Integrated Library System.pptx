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56" r:id="rId2"/>
    <p:sldId id="266" r:id="rId3"/>
    <p:sldId id="258" r:id="rId4"/>
    <p:sldId id="260" r:id="rId5"/>
    <p:sldId id="261" r:id="rId6"/>
    <p:sldId id="263" r:id="rId7"/>
    <p:sldId id="264" r:id="rId8"/>
    <p:sldId id="281" r:id="rId9"/>
    <p:sldId id="282" r:id="rId10"/>
    <p:sldId id="283" r:id="rId11"/>
    <p:sldId id="284" r:id="rId12"/>
    <p:sldId id="285" r:id="rId13"/>
    <p:sldId id="265" r:id="rId14"/>
    <p:sldId id="268" r:id="rId15"/>
    <p:sldId id="269" r:id="rId16"/>
    <p:sldId id="270" r:id="rId17"/>
    <p:sldId id="271" r:id="rId18"/>
    <p:sldId id="272" r:id="rId19"/>
    <p:sldId id="273" r:id="rId20"/>
    <p:sldId id="274" r:id="rId21"/>
    <p:sldId id="275" r:id="rId22"/>
    <p:sldId id="276" r:id="rId23"/>
    <p:sldId id="277" r:id="rId24"/>
    <p:sldId id="279" r:id="rId25"/>
    <p:sldId id="267" r:id="rId26"/>
    <p:sldId id="28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80" autoAdjust="0"/>
    <p:restoredTop sz="94660"/>
  </p:normalViewPr>
  <p:slideViewPr>
    <p:cSldViewPr snapToGrid="0">
      <p:cViewPr varScale="1">
        <p:scale>
          <a:sx n="84" d="100"/>
          <a:sy n="84" d="100"/>
        </p:scale>
        <p:origin x="2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4053221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1528396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1070919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C1D172-5B25-4D10-8B06-0A39F1F8BE75}" type="datetimeFigureOut">
              <a:rPr lang="en-US" smtClean="0"/>
              <a:t>6/3/2022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3223671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C1D172-5B25-4D10-8B06-0A39F1F8BE75}" type="datetimeFigureOut">
              <a:rPr lang="en-US" smtClean="0"/>
              <a:t>6/3/2022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830935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C1D172-5B25-4D10-8B06-0A39F1F8BE75}" type="datetimeFigureOut">
              <a:rPr lang="en-US" smtClean="0"/>
              <a:t>6/3/2022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3550860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C1D172-5B25-4D10-8B06-0A39F1F8BE75}" type="datetimeFigureOut">
              <a:rPr lang="en-US" smtClean="0"/>
              <a:t>6/3/2022</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2941781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C1D172-5B25-4D10-8B06-0A39F1F8BE75}" type="datetimeFigureOut">
              <a:rPr lang="en-US" smtClean="0"/>
              <a:t>6/3/2022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971847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C1D172-5B25-4D10-8B06-0A39F1F8BE75}" type="datetimeFigureOut">
              <a:rPr lang="en-US" smtClean="0"/>
              <a:t>6/3/2022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1768056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C1D172-5B25-4D10-8B06-0A39F1F8BE75}" type="datetimeFigureOut">
              <a:rPr lang="en-US" smtClean="0"/>
              <a:t>6/3/2022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3432041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1478778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1579324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4022563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CC1D172-5B25-4D10-8B06-0A39F1F8BE75}" type="datetimeFigureOut">
              <a:rPr lang="en-US" smtClean="0"/>
              <a:t>6/3/2022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1699265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CC1D172-5B25-4D10-8B06-0A39F1F8BE75}" type="datetimeFigureOut">
              <a:rPr lang="en-US" smtClean="0"/>
              <a:t>6/3/2022</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959366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33563958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DCC1D172-5B25-4D10-8B06-0A39F1F8BE75}" type="datetimeFigureOut">
              <a:rPr lang="en-US" smtClean="0"/>
              <a:t>6/3/2022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3CA47-EBD0-4876-870B-13433C7AFF06}" type="slidenum">
              <a:rPr lang="en-US" smtClean="0"/>
              <a:t>‹#›</a:t>
            </a:fld>
            <a:endParaRPr lang="en-US"/>
          </a:p>
        </p:txBody>
      </p:sp>
    </p:spTree>
    <p:extLst>
      <p:ext uri="{BB962C8B-B14F-4D97-AF65-F5344CB8AC3E}">
        <p14:creationId xmlns:p14="http://schemas.microsoft.com/office/powerpoint/2010/main" val="3707688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CC1D172-5B25-4D10-8B06-0A39F1F8BE75}" type="datetimeFigureOut">
              <a:rPr lang="en-US" smtClean="0"/>
              <a:t>6/3/2022</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013CA47-EBD0-4876-870B-13433C7AFF06}" type="slidenum">
              <a:rPr lang="en-US" smtClean="0"/>
              <a:t>‹#›</a:t>
            </a:fld>
            <a:endParaRPr lang="en-US"/>
          </a:p>
        </p:txBody>
      </p:sp>
    </p:spTree>
    <p:extLst>
      <p:ext uri="{BB962C8B-B14F-4D97-AF65-F5344CB8AC3E}">
        <p14:creationId xmlns:p14="http://schemas.microsoft.com/office/powerpoint/2010/main" val="842925538"/>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rvices.lovelycoding.org/library-management-syste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F22B8ED-DB7E-4D5E-AFE4-65CDC5BDC088}"/>
              </a:ext>
            </a:extLst>
          </p:cNvPr>
          <p:cNvSpPr/>
          <p:nvPr/>
        </p:nvSpPr>
        <p:spPr>
          <a:xfrm>
            <a:off x="1509929" y="1289456"/>
            <a:ext cx="5993950" cy="1754326"/>
          </a:xfrm>
          <a:prstGeom prst="rect">
            <a:avLst/>
          </a:prstGeom>
          <a:noFill/>
        </p:spPr>
        <p:txBody>
          <a:bodyPr wrap="none" lIns="91440" tIns="45720" rIns="91440" bIns="45720">
            <a:spAutoFit/>
          </a:bodyPr>
          <a:lstStyle/>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Integrated</a:t>
            </a: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 </a:t>
            </a: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Library</a:t>
            </a: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 </a:t>
            </a:r>
          </a:p>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system</a:t>
            </a:r>
            <a:endPar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25121C0-FD79-446C-8445-4D0B2DC0A6B2}"/>
              </a:ext>
            </a:extLst>
          </p:cNvPr>
          <p:cNvSpPr/>
          <p:nvPr/>
        </p:nvSpPr>
        <p:spPr>
          <a:xfrm>
            <a:off x="7834901" y="4032654"/>
            <a:ext cx="1952779" cy="461665"/>
          </a:xfrm>
          <a:prstGeom prst="rect">
            <a:avLst/>
          </a:prstGeom>
          <a:noFill/>
        </p:spPr>
        <p:txBody>
          <a:bodyPr wrap="none" lIns="91440" tIns="45720" rIns="91440" bIns="45720">
            <a:spAutoFit/>
          </a:bodyPr>
          <a:lstStyle/>
          <a:p>
            <a:pPr algn="ctr"/>
            <a:r>
              <a:rPr lang="en-US" sz="2400" dirty="0">
                <a:ln w="0"/>
                <a:solidFill>
                  <a:schemeClr val="accent4">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Presented by:-</a:t>
            </a:r>
            <a:endParaRPr lang="en-US" sz="2400" b="0" cap="none" spc="0" dirty="0">
              <a:ln w="0"/>
              <a:solidFill>
                <a:schemeClr val="accent4">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A979EEBA-8AB5-4018-BD10-5A22D3AD4223}"/>
              </a:ext>
            </a:extLst>
          </p:cNvPr>
          <p:cNvSpPr/>
          <p:nvPr/>
        </p:nvSpPr>
        <p:spPr>
          <a:xfrm>
            <a:off x="8864190" y="4401986"/>
            <a:ext cx="2364750" cy="1200329"/>
          </a:xfrm>
          <a:prstGeom prst="rect">
            <a:avLst/>
          </a:prstGeom>
          <a:noFill/>
        </p:spPr>
        <p:txBody>
          <a:bodyPr wrap="none" lIns="91440" tIns="45720" rIns="91440" bIns="45720">
            <a:spAutoFit/>
          </a:bodyPr>
          <a:lstStyle/>
          <a:p>
            <a:pPr algn="ctr"/>
            <a:r>
              <a:rPr lang="en-US" sz="2400" b="0" cap="none" spc="0"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Sunny Kumar</a:t>
            </a:r>
          </a:p>
          <a:p>
            <a:pPr algn="ctr"/>
            <a:r>
              <a:rPr lang="en-US" sz="2400"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Roll ID-2001194</a:t>
            </a:r>
          </a:p>
          <a:p>
            <a:pPr algn="ctr"/>
            <a:r>
              <a:rPr lang="en-US" sz="2400" b="0" cap="none" spc="0"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CSE</a:t>
            </a:r>
            <a:endParaRPr lang="en-US" sz="2000" b="0" cap="none" spc="0" dirty="0">
              <a:ln w="0"/>
              <a:solidFill>
                <a:schemeClr val="bg2">
                  <a:lumMod val="75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718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E42327-4133-4E73-9D64-EEED247336F3}"/>
              </a:ext>
            </a:extLst>
          </p:cNvPr>
          <p:cNvSpPr/>
          <p:nvPr/>
        </p:nvSpPr>
        <p:spPr>
          <a:xfrm>
            <a:off x="159499" y="746649"/>
            <a:ext cx="5359159" cy="923330"/>
          </a:xfrm>
          <a:prstGeom prst="rect">
            <a:avLst/>
          </a:prstGeom>
          <a:noFill/>
        </p:spPr>
        <p:txBody>
          <a:bodyPr wrap="none" lIns="91440" tIns="45720" rIns="91440" bIns="45720">
            <a:spAutoFit/>
          </a:bodyPr>
          <a:lstStyle/>
          <a:p>
            <a:pPr lvl="1"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Existing System</a:t>
            </a:r>
          </a:p>
        </p:txBody>
      </p:sp>
      <p:sp>
        <p:nvSpPr>
          <p:cNvPr id="2" name="TextBox 1">
            <a:extLst>
              <a:ext uri="{FF2B5EF4-FFF2-40B4-BE49-F238E27FC236}">
                <a16:creationId xmlns:a16="http://schemas.microsoft.com/office/drawing/2014/main" id="{05D7539D-A024-4DDE-A0A8-785884605FAA}"/>
              </a:ext>
            </a:extLst>
          </p:cNvPr>
          <p:cNvSpPr txBox="1"/>
          <p:nvPr/>
        </p:nvSpPr>
        <p:spPr>
          <a:xfrm>
            <a:off x="713791" y="2413337"/>
            <a:ext cx="9540552"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Fast report generation is not possible.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Tracing a book is difficult.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Information about issue and return  of book is not properly maintained.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penalty is complex</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Time manipulation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updating is tedious work</a:t>
            </a:r>
          </a:p>
        </p:txBody>
      </p:sp>
    </p:spTree>
    <p:extLst>
      <p:ext uri="{BB962C8B-B14F-4D97-AF65-F5344CB8AC3E}">
        <p14:creationId xmlns:p14="http://schemas.microsoft.com/office/powerpoint/2010/main" val="1574402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DDD208B-F257-4062-B9CA-4B78B7302652}"/>
              </a:ext>
            </a:extLst>
          </p:cNvPr>
          <p:cNvSpPr/>
          <p:nvPr/>
        </p:nvSpPr>
        <p:spPr>
          <a:xfrm>
            <a:off x="813417" y="838200"/>
            <a:ext cx="3942426"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Introduction</a:t>
            </a:r>
          </a:p>
        </p:txBody>
      </p:sp>
      <p:sp>
        <p:nvSpPr>
          <p:cNvPr id="7" name="TextBox 6">
            <a:extLst>
              <a:ext uri="{FF2B5EF4-FFF2-40B4-BE49-F238E27FC236}">
                <a16:creationId xmlns:a16="http://schemas.microsoft.com/office/drawing/2014/main" id="{5F739F18-C3FF-41BC-BAC3-720091F5AED9}"/>
              </a:ext>
            </a:extLst>
          </p:cNvPr>
          <p:cNvSpPr txBox="1"/>
          <p:nvPr/>
        </p:nvSpPr>
        <p:spPr>
          <a:xfrm>
            <a:off x="772357" y="2551837"/>
            <a:ext cx="10527014" cy="3970318"/>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Integrated library system is all about organizing, managing the library and library-oriented tasks. It also involves maintaining the database of entering new books and the record of books that have been retrieved or issued, with their respective dates.</a:t>
            </a:r>
          </a:p>
          <a:p>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 The main aim of this project is providing an easy to handle and automated Integrated library system. This project also provides features and interface for maintaining librarian’s records, student’s history of issue and fines.</a:t>
            </a:r>
          </a:p>
          <a:p>
            <a:pPr algn="just" fontAlgn="base"/>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•T he owner can easily update, delete and insert data in the database with this </a:t>
            </a:r>
            <a:r>
              <a:rPr lang="en-US" dirty="0" err="1">
                <a:latin typeface="Times New Roman" panose="02020603050405020304" pitchFamily="18" charset="0"/>
                <a:cs typeface="Times New Roman" panose="02020603050405020304" pitchFamily="18" charset="0"/>
              </a:rPr>
              <a:t>project.The</a:t>
            </a:r>
            <a:r>
              <a:rPr lang="en-US" dirty="0">
                <a:latin typeface="Times New Roman" panose="02020603050405020304" pitchFamily="18" charset="0"/>
                <a:cs typeface="Times New Roman" panose="02020603050405020304" pitchFamily="18" charset="0"/>
              </a:rPr>
              <a:t> following are some of the features provided by this project</a:t>
            </a:r>
          </a:p>
          <a:p>
            <a:endParaRPr lang="en-US" dirty="0">
              <a:latin typeface="Times New Roman" panose="02020603050405020304" pitchFamily="18" charset="0"/>
              <a:cs typeface="Times New Roman" panose="02020603050405020304" pitchFamily="18" charset="0"/>
            </a:endParaRPr>
          </a:p>
          <a:p>
            <a:br>
              <a:rPr lang="en-US" dirty="0">
                <a:hlinkClick r:id="rId2"/>
              </a:rPr>
            </a:br>
            <a:endParaRPr lang="en-US" dirty="0"/>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8723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1874A4-74BD-43EB-81E9-1D65224C4C12}"/>
              </a:ext>
            </a:extLst>
          </p:cNvPr>
          <p:cNvSpPr/>
          <p:nvPr/>
        </p:nvSpPr>
        <p:spPr>
          <a:xfrm>
            <a:off x="717329" y="681335"/>
            <a:ext cx="3031599"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Objective</a:t>
            </a:r>
          </a:p>
        </p:txBody>
      </p:sp>
      <p:sp>
        <p:nvSpPr>
          <p:cNvPr id="2" name="TextBox 1">
            <a:extLst>
              <a:ext uri="{FF2B5EF4-FFF2-40B4-BE49-F238E27FC236}">
                <a16:creationId xmlns:a16="http://schemas.microsoft.com/office/drawing/2014/main" id="{A3F77AD4-C806-4BD3-8372-0941ADD43545}"/>
              </a:ext>
            </a:extLst>
          </p:cNvPr>
          <p:cNvSpPr txBox="1"/>
          <p:nvPr/>
        </p:nvSpPr>
        <p:spPr>
          <a:xfrm>
            <a:off x="790199" y="2375781"/>
            <a:ext cx="4856480" cy="397031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More accuracy</a:t>
            </a:r>
          </a:p>
          <a:p>
            <a:r>
              <a:rPr lang="en-US" dirty="0">
                <a:latin typeface="Times New Roman" panose="02020603050405020304" pitchFamily="18" charset="0"/>
                <a:cs typeface="Times New Roman" panose="02020603050405020304" pitchFamily="18" charset="0"/>
              </a:rPr>
              <a:t>■ speed improvement</a:t>
            </a:r>
          </a:p>
          <a:p>
            <a:r>
              <a:rPr lang="en-US" dirty="0">
                <a:latin typeface="Times New Roman" panose="02020603050405020304" pitchFamily="18" charset="0"/>
                <a:cs typeface="Times New Roman" panose="02020603050405020304" pitchFamily="18" charset="0"/>
              </a:rPr>
              <a:t>■ data inconsistency</a:t>
            </a:r>
          </a:p>
          <a:p>
            <a:r>
              <a:rPr lang="en-US" dirty="0">
                <a:latin typeface="Times New Roman" panose="02020603050405020304" pitchFamily="18" charset="0"/>
                <a:cs typeface="Times New Roman" panose="02020603050405020304" pitchFamily="18" charset="0"/>
              </a:rPr>
              <a:t>■ Better error handling</a:t>
            </a:r>
          </a:p>
          <a:p>
            <a:r>
              <a:rPr lang="en-US" dirty="0">
                <a:latin typeface="Times New Roman" panose="02020603050405020304" pitchFamily="18" charset="0"/>
                <a:cs typeface="Times New Roman" panose="02020603050405020304" pitchFamily="18" charset="0"/>
              </a:rPr>
              <a:t>■ Integrity</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The system will handle the maintenance of data</a:t>
            </a:r>
          </a:p>
          <a:p>
            <a:r>
              <a:rPr lang="en-US" dirty="0">
                <a:latin typeface="Times New Roman" panose="02020603050405020304" pitchFamily="18" charset="0"/>
                <a:cs typeface="Times New Roman" panose="02020603050405020304" pitchFamily="18" charset="0"/>
              </a:rPr>
              <a:t>■ it handle entire transaction of book registration till issue of the book</a:t>
            </a:r>
          </a:p>
          <a:p>
            <a:r>
              <a:rPr lang="en-US" dirty="0">
                <a:latin typeface="Times New Roman" panose="02020603050405020304" pitchFamily="18" charset="0"/>
                <a:cs typeface="Times New Roman" panose="02020603050405020304" pitchFamily="18" charset="0"/>
              </a:rPr>
              <a:t>■ books can be easily searched</a:t>
            </a:r>
          </a:p>
          <a:p>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administerator</a:t>
            </a:r>
            <a:r>
              <a:rPr lang="en-US" dirty="0">
                <a:latin typeface="Times New Roman" panose="02020603050405020304" pitchFamily="18" charset="0"/>
                <a:cs typeface="Times New Roman" panose="02020603050405020304" pitchFamily="18" charset="0"/>
              </a:rPr>
              <a:t> details of books , authors and existing Member etc.</a:t>
            </a:r>
          </a:p>
          <a:p>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29A1BA2-0813-4DD3-B7A5-323E838E11F2}"/>
              </a:ext>
            </a:extLst>
          </p:cNvPr>
          <p:cNvSpPr txBox="1"/>
          <p:nvPr/>
        </p:nvSpPr>
        <p:spPr>
          <a:xfrm>
            <a:off x="340566" y="2006449"/>
            <a:ext cx="2038740"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Basic objectives</a:t>
            </a:r>
          </a:p>
        </p:txBody>
      </p:sp>
      <p:sp>
        <p:nvSpPr>
          <p:cNvPr id="5" name="TextBox 4">
            <a:extLst>
              <a:ext uri="{FF2B5EF4-FFF2-40B4-BE49-F238E27FC236}">
                <a16:creationId xmlns:a16="http://schemas.microsoft.com/office/drawing/2014/main" id="{B4BE02CD-150B-492D-ACF0-7C79733AA392}"/>
              </a:ext>
            </a:extLst>
          </p:cNvPr>
          <p:cNvSpPr txBox="1"/>
          <p:nvPr/>
        </p:nvSpPr>
        <p:spPr>
          <a:xfrm>
            <a:off x="484092" y="3945441"/>
            <a:ext cx="1945433"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Other objectives</a:t>
            </a:r>
          </a:p>
        </p:txBody>
      </p:sp>
    </p:spTree>
    <p:extLst>
      <p:ext uri="{BB962C8B-B14F-4D97-AF65-F5344CB8AC3E}">
        <p14:creationId xmlns:p14="http://schemas.microsoft.com/office/powerpoint/2010/main" val="467466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570B11-803E-4BA5-9D20-4A006E9399BA}"/>
              </a:ext>
            </a:extLst>
          </p:cNvPr>
          <p:cNvSpPr/>
          <p:nvPr/>
        </p:nvSpPr>
        <p:spPr>
          <a:xfrm>
            <a:off x="957614" y="877278"/>
            <a:ext cx="7141700" cy="923330"/>
          </a:xfrm>
          <a:prstGeom prst="rect">
            <a:avLst/>
          </a:prstGeom>
          <a:noFill/>
        </p:spPr>
        <p:txBody>
          <a:bodyPr wrap="none" lIns="91440" tIns="45720" rIns="91440" bIns="45720">
            <a:spAutoFit/>
          </a:bodyPr>
          <a:lstStyle/>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System</a:t>
            </a: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 requirements</a:t>
            </a:r>
          </a:p>
        </p:txBody>
      </p:sp>
      <p:sp>
        <p:nvSpPr>
          <p:cNvPr id="3" name="TextBox 2">
            <a:extLst>
              <a:ext uri="{FF2B5EF4-FFF2-40B4-BE49-F238E27FC236}">
                <a16:creationId xmlns:a16="http://schemas.microsoft.com/office/drawing/2014/main" id="{5AD5B6DB-D22F-4FFC-82A1-BE659CB26EB7}"/>
              </a:ext>
            </a:extLst>
          </p:cNvPr>
          <p:cNvSpPr txBox="1"/>
          <p:nvPr/>
        </p:nvSpPr>
        <p:spPr>
          <a:xfrm>
            <a:off x="620485" y="2327988"/>
            <a:ext cx="297180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Hardware requirements</a:t>
            </a:r>
          </a:p>
        </p:txBody>
      </p:sp>
      <p:sp>
        <p:nvSpPr>
          <p:cNvPr id="5" name="TextBox 4">
            <a:extLst>
              <a:ext uri="{FF2B5EF4-FFF2-40B4-BE49-F238E27FC236}">
                <a16:creationId xmlns:a16="http://schemas.microsoft.com/office/drawing/2014/main" id="{49D6192C-E7F9-40DC-A260-6255BB31B684}"/>
              </a:ext>
            </a:extLst>
          </p:cNvPr>
          <p:cNvSpPr txBox="1"/>
          <p:nvPr/>
        </p:nvSpPr>
        <p:spPr>
          <a:xfrm>
            <a:off x="536509" y="2967335"/>
            <a:ext cx="4119465"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intel i7,ideapad 330 </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RAM: </a:t>
            </a:r>
            <a:r>
              <a:rPr lang="en-US" dirty="0">
                <a:latin typeface="Times New Roman" panose="02020603050405020304" pitchFamily="18" charset="0"/>
                <a:cs typeface="Times New Roman" panose="02020603050405020304" pitchFamily="18" charset="0"/>
              </a:rPr>
              <a:t>8 GB</a:t>
            </a:r>
          </a:p>
          <a:p>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Harddisk</a:t>
            </a:r>
            <a:r>
              <a:rPr lang="en-US" b="1" dirty="0">
                <a:latin typeface="Times New Roman" panose="02020603050405020304" pitchFamily="18" charset="0"/>
                <a:cs typeface="Times New Roman" panose="02020603050405020304" pitchFamily="18" charset="0"/>
              </a:rPr>
              <a:t>: 1500 GB</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74B453A-A88D-4D50-AB75-BF73DB011C3E}"/>
              </a:ext>
            </a:extLst>
          </p:cNvPr>
          <p:cNvSpPr txBox="1"/>
          <p:nvPr/>
        </p:nvSpPr>
        <p:spPr>
          <a:xfrm>
            <a:off x="620485" y="4324738"/>
            <a:ext cx="3018453"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Software requirements</a:t>
            </a:r>
          </a:p>
        </p:txBody>
      </p:sp>
      <p:sp>
        <p:nvSpPr>
          <p:cNvPr id="7" name="TextBox 6">
            <a:extLst>
              <a:ext uri="{FF2B5EF4-FFF2-40B4-BE49-F238E27FC236}">
                <a16:creationId xmlns:a16="http://schemas.microsoft.com/office/drawing/2014/main" id="{080B4CA6-1DFE-4BD9-B367-25002BE6E9FB}"/>
              </a:ext>
            </a:extLst>
          </p:cNvPr>
          <p:cNvSpPr txBox="1"/>
          <p:nvPr/>
        </p:nvSpPr>
        <p:spPr>
          <a:xfrm>
            <a:off x="620485" y="4791268"/>
            <a:ext cx="5341776" cy="147732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front end :- </a:t>
            </a:r>
            <a:r>
              <a:rPr lang="en-US" dirty="0">
                <a:latin typeface="Times New Roman" panose="02020603050405020304" pitchFamily="18" charset="0"/>
                <a:cs typeface="Times New Roman" panose="02020603050405020304" pitchFamily="18" charset="0"/>
              </a:rPr>
              <a:t>java eclipse</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back end :- </a:t>
            </a:r>
            <a:r>
              <a:rPr lang="en-US" dirty="0" err="1">
                <a:latin typeface="Times New Roman" panose="02020603050405020304" pitchFamily="18" charset="0"/>
                <a:cs typeface="Times New Roman" panose="02020603050405020304" pitchFamily="18" charset="0"/>
              </a:rPr>
              <a:t>MySql</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 web server:-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Xampp</a:t>
            </a:r>
            <a:r>
              <a:rPr lang="en-US" dirty="0">
                <a:latin typeface="Times New Roman" panose="02020603050405020304" pitchFamily="18" charset="0"/>
                <a:cs typeface="Times New Roman" panose="02020603050405020304" pitchFamily="18" charset="0"/>
              </a:rPr>
              <a:t> server</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772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3F138-1A67-4C3E-9D69-F16E275E9E77}"/>
              </a:ext>
            </a:extLst>
          </p:cNvPr>
          <p:cNvSpPr/>
          <p:nvPr/>
        </p:nvSpPr>
        <p:spPr>
          <a:xfrm>
            <a:off x="1238850" y="727989"/>
            <a:ext cx="1484702" cy="923330"/>
          </a:xfrm>
          <a:prstGeom prst="rect">
            <a:avLst/>
          </a:prstGeom>
          <a:noFill/>
        </p:spPr>
        <p:txBody>
          <a:bodyPr wrap="none" lIns="91440" tIns="45720" rIns="91440" bIns="45720">
            <a:spAutoFit/>
          </a:bodyPr>
          <a:lstStyle/>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DFD</a:t>
            </a:r>
            <a:endPar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2" name="Oval 1">
            <a:extLst>
              <a:ext uri="{FF2B5EF4-FFF2-40B4-BE49-F238E27FC236}">
                <a16:creationId xmlns:a16="http://schemas.microsoft.com/office/drawing/2014/main" id="{198A9288-CF47-49BE-9FF1-00AC3AEC78A8}"/>
              </a:ext>
            </a:extLst>
          </p:cNvPr>
          <p:cNvSpPr/>
          <p:nvPr/>
        </p:nvSpPr>
        <p:spPr>
          <a:xfrm>
            <a:off x="3591894" y="3595397"/>
            <a:ext cx="700574"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login</a:t>
            </a:r>
          </a:p>
        </p:txBody>
      </p:sp>
      <p:sp>
        <p:nvSpPr>
          <p:cNvPr id="5" name="Oval 4">
            <a:extLst>
              <a:ext uri="{FF2B5EF4-FFF2-40B4-BE49-F238E27FC236}">
                <a16:creationId xmlns:a16="http://schemas.microsoft.com/office/drawing/2014/main" id="{13487F77-BEC9-4CCD-8B0C-69AD7C217D76}"/>
              </a:ext>
            </a:extLst>
          </p:cNvPr>
          <p:cNvSpPr/>
          <p:nvPr/>
        </p:nvSpPr>
        <p:spPr>
          <a:xfrm>
            <a:off x="6204857" y="4242318"/>
            <a:ext cx="1511560" cy="4665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Login</a:t>
            </a:r>
          </a:p>
        </p:txBody>
      </p:sp>
      <p:sp>
        <p:nvSpPr>
          <p:cNvPr id="6" name="Oval 5">
            <a:extLst>
              <a:ext uri="{FF2B5EF4-FFF2-40B4-BE49-F238E27FC236}">
                <a16:creationId xmlns:a16="http://schemas.microsoft.com/office/drawing/2014/main" id="{41576046-73D2-4E3D-BF8F-858F762C6CFF}"/>
              </a:ext>
            </a:extLst>
          </p:cNvPr>
          <p:cNvSpPr/>
          <p:nvPr/>
        </p:nvSpPr>
        <p:spPr>
          <a:xfrm>
            <a:off x="8090885" y="3735355"/>
            <a:ext cx="1511560" cy="4665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Register</a:t>
            </a:r>
          </a:p>
        </p:txBody>
      </p:sp>
      <p:sp>
        <p:nvSpPr>
          <p:cNvPr id="7" name="Oval 6">
            <a:extLst>
              <a:ext uri="{FF2B5EF4-FFF2-40B4-BE49-F238E27FC236}">
                <a16:creationId xmlns:a16="http://schemas.microsoft.com/office/drawing/2014/main" id="{1641135C-023D-4A63-B59C-0C9C0DE05751}"/>
              </a:ext>
            </a:extLst>
          </p:cNvPr>
          <p:cNvSpPr/>
          <p:nvPr/>
        </p:nvSpPr>
        <p:spPr>
          <a:xfrm>
            <a:off x="6204857" y="3036546"/>
            <a:ext cx="1511560" cy="46653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8" name="Oval 7">
            <a:extLst>
              <a:ext uri="{FF2B5EF4-FFF2-40B4-BE49-F238E27FC236}">
                <a16:creationId xmlns:a16="http://schemas.microsoft.com/office/drawing/2014/main" id="{1EB469C2-D499-4920-8142-6790A0EDE873}"/>
              </a:ext>
            </a:extLst>
          </p:cNvPr>
          <p:cNvSpPr/>
          <p:nvPr/>
        </p:nvSpPr>
        <p:spPr>
          <a:xfrm>
            <a:off x="3186401" y="2861286"/>
            <a:ext cx="1511560" cy="46653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Admin</a:t>
            </a:r>
          </a:p>
        </p:txBody>
      </p:sp>
      <p:sp>
        <p:nvSpPr>
          <p:cNvPr id="9" name="Rectangle 8">
            <a:extLst>
              <a:ext uri="{FF2B5EF4-FFF2-40B4-BE49-F238E27FC236}">
                <a16:creationId xmlns:a16="http://schemas.microsoft.com/office/drawing/2014/main" id="{A7F4CCB8-92ED-4CC8-96EF-3859EED877FA}"/>
              </a:ext>
            </a:extLst>
          </p:cNvPr>
          <p:cNvSpPr/>
          <p:nvPr/>
        </p:nvSpPr>
        <p:spPr>
          <a:xfrm>
            <a:off x="2635118" y="5860039"/>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By name</a:t>
            </a:r>
          </a:p>
        </p:txBody>
      </p:sp>
      <p:sp>
        <p:nvSpPr>
          <p:cNvPr id="10" name="Rectangle 9">
            <a:extLst>
              <a:ext uri="{FF2B5EF4-FFF2-40B4-BE49-F238E27FC236}">
                <a16:creationId xmlns:a16="http://schemas.microsoft.com/office/drawing/2014/main" id="{E619CC26-537F-47E4-8E91-C5B9FEBA1590}"/>
              </a:ext>
            </a:extLst>
          </p:cNvPr>
          <p:cNvSpPr/>
          <p:nvPr/>
        </p:nvSpPr>
        <p:spPr>
          <a:xfrm>
            <a:off x="2483884" y="4399591"/>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err="1"/>
              <a:t>Upd</a:t>
            </a:r>
            <a:r>
              <a:rPr lang="en-US" sz="1100" dirty="0"/>
              <a:t>. Stud.</a:t>
            </a:r>
          </a:p>
        </p:txBody>
      </p:sp>
      <p:sp>
        <p:nvSpPr>
          <p:cNvPr id="11" name="Rectangle 10">
            <a:extLst>
              <a:ext uri="{FF2B5EF4-FFF2-40B4-BE49-F238E27FC236}">
                <a16:creationId xmlns:a16="http://schemas.microsoft.com/office/drawing/2014/main" id="{20837891-A396-4B9C-AD74-F3AAAA149BE0}"/>
              </a:ext>
            </a:extLst>
          </p:cNvPr>
          <p:cNvSpPr/>
          <p:nvPr/>
        </p:nvSpPr>
        <p:spPr>
          <a:xfrm>
            <a:off x="4222101" y="4676917"/>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Update book</a:t>
            </a:r>
          </a:p>
        </p:txBody>
      </p:sp>
      <p:sp>
        <p:nvSpPr>
          <p:cNvPr id="12" name="Rectangle 11">
            <a:extLst>
              <a:ext uri="{FF2B5EF4-FFF2-40B4-BE49-F238E27FC236}">
                <a16:creationId xmlns:a16="http://schemas.microsoft.com/office/drawing/2014/main" id="{430B03CC-8D1E-4072-8108-26AEE03F7C72}"/>
              </a:ext>
            </a:extLst>
          </p:cNvPr>
          <p:cNvSpPr/>
          <p:nvPr/>
        </p:nvSpPr>
        <p:spPr>
          <a:xfrm>
            <a:off x="4539964" y="4187164"/>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List book</a:t>
            </a:r>
          </a:p>
        </p:txBody>
      </p:sp>
      <p:sp>
        <p:nvSpPr>
          <p:cNvPr id="13" name="Rectangle 12">
            <a:extLst>
              <a:ext uri="{FF2B5EF4-FFF2-40B4-BE49-F238E27FC236}">
                <a16:creationId xmlns:a16="http://schemas.microsoft.com/office/drawing/2014/main" id="{EA37202F-092E-412C-9BF9-5F0B8B690624}"/>
              </a:ext>
            </a:extLst>
          </p:cNvPr>
          <p:cNvSpPr/>
          <p:nvPr/>
        </p:nvSpPr>
        <p:spPr>
          <a:xfrm>
            <a:off x="5036043" y="3572070"/>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Delete student</a:t>
            </a:r>
          </a:p>
        </p:txBody>
      </p:sp>
      <p:sp>
        <p:nvSpPr>
          <p:cNvPr id="14" name="Rectangle 13">
            <a:extLst>
              <a:ext uri="{FF2B5EF4-FFF2-40B4-BE49-F238E27FC236}">
                <a16:creationId xmlns:a16="http://schemas.microsoft.com/office/drawing/2014/main" id="{BECABF26-0A3C-4A4F-8138-445BABA551C7}"/>
              </a:ext>
            </a:extLst>
          </p:cNvPr>
          <p:cNvSpPr/>
          <p:nvPr/>
        </p:nvSpPr>
        <p:spPr>
          <a:xfrm>
            <a:off x="3335692" y="5166670"/>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Search stud</a:t>
            </a:r>
          </a:p>
        </p:txBody>
      </p:sp>
      <p:sp>
        <p:nvSpPr>
          <p:cNvPr id="15" name="Rectangle 14">
            <a:extLst>
              <a:ext uri="{FF2B5EF4-FFF2-40B4-BE49-F238E27FC236}">
                <a16:creationId xmlns:a16="http://schemas.microsoft.com/office/drawing/2014/main" id="{070AA733-309F-4852-AC01-0A3A7B040E3D}"/>
              </a:ext>
            </a:extLst>
          </p:cNvPr>
          <p:cNvSpPr/>
          <p:nvPr/>
        </p:nvSpPr>
        <p:spPr>
          <a:xfrm>
            <a:off x="1566762" y="3876870"/>
            <a:ext cx="1511560" cy="3452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Add book</a:t>
            </a:r>
          </a:p>
        </p:txBody>
      </p:sp>
      <p:sp>
        <p:nvSpPr>
          <p:cNvPr id="16" name="Rectangle 15">
            <a:extLst>
              <a:ext uri="{FF2B5EF4-FFF2-40B4-BE49-F238E27FC236}">
                <a16:creationId xmlns:a16="http://schemas.microsoft.com/office/drawing/2014/main" id="{B940B067-C2DB-4010-9F78-8C5DA60E6E0F}"/>
              </a:ext>
            </a:extLst>
          </p:cNvPr>
          <p:cNvSpPr/>
          <p:nvPr/>
        </p:nvSpPr>
        <p:spPr>
          <a:xfrm>
            <a:off x="1238851" y="3327817"/>
            <a:ext cx="1484701" cy="25275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Student list</a:t>
            </a:r>
          </a:p>
        </p:txBody>
      </p:sp>
      <p:sp>
        <p:nvSpPr>
          <p:cNvPr id="17" name="Rectangle 16">
            <a:extLst>
              <a:ext uri="{FF2B5EF4-FFF2-40B4-BE49-F238E27FC236}">
                <a16:creationId xmlns:a16="http://schemas.microsoft.com/office/drawing/2014/main" id="{E4D871A8-E3B6-4F20-AB56-02FD4E38257C}"/>
              </a:ext>
            </a:extLst>
          </p:cNvPr>
          <p:cNvSpPr/>
          <p:nvPr/>
        </p:nvSpPr>
        <p:spPr>
          <a:xfrm>
            <a:off x="7515810" y="6417436"/>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By book id</a:t>
            </a:r>
          </a:p>
        </p:txBody>
      </p:sp>
      <p:sp>
        <p:nvSpPr>
          <p:cNvPr id="18" name="Rectangle 17">
            <a:extLst>
              <a:ext uri="{FF2B5EF4-FFF2-40B4-BE49-F238E27FC236}">
                <a16:creationId xmlns:a16="http://schemas.microsoft.com/office/drawing/2014/main" id="{059CCDA3-A39C-4C0A-941A-CCD36907520C}"/>
              </a:ext>
            </a:extLst>
          </p:cNvPr>
          <p:cNvSpPr/>
          <p:nvPr/>
        </p:nvSpPr>
        <p:spPr>
          <a:xfrm>
            <a:off x="6515878" y="6012850"/>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By book name</a:t>
            </a:r>
          </a:p>
        </p:txBody>
      </p:sp>
      <p:sp>
        <p:nvSpPr>
          <p:cNvPr id="19" name="Rectangle 18">
            <a:extLst>
              <a:ext uri="{FF2B5EF4-FFF2-40B4-BE49-F238E27FC236}">
                <a16:creationId xmlns:a16="http://schemas.microsoft.com/office/drawing/2014/main" id="{C455EEAC-D7AA-4A3F-A410-0DB7D6DF4A02}"/>
              </a:ext>
            </a:extLst>
          </p:cNvPr>
          <p:cNvSpPr/>
          <p:nvPr/>
        </p:nvSpPr>
        <p:spPr>
          <a:xfrm>
            <a:off x="8629260" y="4704391"/>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Issue book</a:t>
            </a:r>
          </a:p>
        </p:txBody>
      </p:sp>
      <p:sp>
        <p:nvSpPr>
          <p:cNvPr id="20" name="Rectangle 19">
            <a:extLst>
              <a:ext uri="{FF2B5EF4-FFF2-40B4-BE49-F238E27FC236}">
                <a16:creationId xmlns:a16="http://schemas.microsoft.com/office/drawing/2014/main" id="{C043A96A-A8B4-40FF-9C3B-8C016890947C}"/>
              </a:ext>
            </a:extLst>
          </p:cNvPr>
          <p:cNvSpPr/>
          <p:nvPr/>
        </p:nvSpPr>
        <p:spPr>
          <a:xfrm>
            <a:off x="7498703" y="5211664"/>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Search book</a:t>
            </a:r>
          </a:p>
        </p:txBody>
      </p:sp>
      <p:sp>
        <p:nvSpPr>
          <p:cNvPr id="21" name="Rectangle 20">
            <a:extLst>
              <a:ext uri="{FF2B5EF4-FFF2-40B4-BE49-F238E27FC236}">
                <a16:creationId xmlns:a16="http://schemas.microsoft.com/office/drawing/2014/main" id="{678FC94F-A471-41EE-AC34-882070B61A4C}"/>
              </a:ext>
            </a:extLst>
          </p:cNvPr>
          <p:cNvSpPr/>
          <p:nvPr/>
        </p:nvSpPr>
        <p:spPr>
          <a:xfrm>
            <a:off x="6299718" y="5206481"/>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List book</a:t>
            </a:r>
          </a:p>
        </p:txBody>
      </p:sp>
      <p:sp>
        <p:nvSpPr>
          <p:cNvPr id="22" name="Rectangle 21">
            <a:extLst>
              <a:ext uri="{FF2B5EF4-FFF2-40B4-BE49-F238E27FC236}">
                <a16:creationId xmlns:a16="http://schemas.microsoft.com/office/drawing/2014/main" id="{E2220AF3-D192-474F-8293-F00352B64F0B}"/>
              </a:ext>
            </a:extLst>
          </p:cNvPr>
          <p:cNvSpPr/>
          <p:nvPr/>
        </p:nvSpPr>
        <p:spPr>
          <a:xfrm>
            <a:off x="4346510" y="5957592"/>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By id</a:t>
            </a:r>
          </a:p>
        </p:txBody>
      </p:sp>
      <p:sp>
        <p:nvSpPr>
          <p:cNvPr id="23" name="Oval 22">
            <a:extLst>
              <a:ext uri="{FF2B5EF4-FFF2-40B4-BE49-F238E27FC236}">
                <a16:creationId xmlns:a16="http://schemas.microsoft.com/office/drawing/2014/main" id="{A0332769-E40E-4CE3-8E0C-47EFEFDCA684}"/>
              </a:ext>
            </a:extLst>
          </p:cNvPr>
          <p:cNvSpPr/>
          <p:nvPr/>
        </p:nvSpPr>
        <p:spPr>
          <a:xfrm>
            <a:off x="4817706" y="2531706"/>
            <a:ext cx="1539551"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latin typeface="Times New Roman" panose="02020603050405020304" pitchFamily="18" charset="0"/>
                <a:cs typeface="Times New Roman" panose="02020603050405020304" pitchFamily="18" charset="0"/>
              </a:rPr>
              <a:t>Library system</a:t>
            </a:r>
          </a:p>
        </p:txBody>
      </p:sp>
      <p:sp>
        <p:nvSpPr>
          <p:cNvPr id="24" name="Rectangle 23">
            <a:extLst>
              <a:ext uri="{FF2B5EF4-FFF2-40B4-BE49-F238E27FC236}">
                <a16:creationId xmlns:a16="http://schemas.microsoft.com/office/drawing/2014/main" id="{3E31C82E-EE85-4D27-89C4-0E167949EBBB}"/>
              </a:ext>
            </a:extLst>
          </p:cNvPr>
          <p:cNvSpPr/>
          <p:nvPr/>
        </p:nvSpPr>
        <p:spPr>
          <a:xfrm>
            <a:off x="9072464" y="5410665"/>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By book author</a:t>
            </a:r>
          </a:p>
        </p:txBody>
      </p:sp>
      <p:sp>
        <p:nvSpPr>
          <p:cNvPr id="25" name="Rectangle 24">
            <a:extLst>
              <a:ext uri="{FF2B5EF4-FFF2-40B4-BE49-F238E27FC236}">
                <a16:creationId xmlns:a16="http://schemas.microsoft.com/office/drawing/2014/main" id="{C92605FB-56E7-4C8E-BD65-25B32E78446E}"/>
              </a:ext>
            </a:extLst>
          </p:cNvPr>
          <p:cNvSpPr/>
          <p:nvPr/>
        </p:nvSpPr>
        <p:spPr>
          <a:xfrm>
            <a:off x="8242041" y="5917938"/>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By book publish date</a:t>
            </a:r>
          </a:p>
        </p:txBody>
      </p:sp>
      <p:cxnSp>
        <p:nvCxnSpPr>
          <p:cNvPr id="31" name="Straight Arrow Connector 30">
            <a:extLst>
              <a:ext uri="{FF2B5EF4-FFF2-40B4-BE49-F238E27FC236}">
                <a16:creationId xmlns:a16="http://schemas.microsoft.com/office/drawing/2014/main" id="{5E1EEF8D-770D-42DC-8462-010761307927}"/>
              </a:ext>
            </a:extLst>
          </p:cNvPr>
          <p:cNvCxnSpPr>
            <a:stCxn id="2" idx="3"/>
          </p:cNvCxnSpPr>
          <p:nvPr/>
        </p:nvCxnSpPr>
        <p:spPr>
          <a:xfrm flipH="1">
            <a:off x="3186401" y="3985642"/>
            <a:ext cx="508090" cy="4139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7CF20D1F-ACA5-4C75-8545-D504140B3895}"/>
              </a:ext>
            </a:extLst>
          </p:cNvPr>
          <p:cNvCxnSpPr>
            <a:stCxn id="2" idx="4"/>
          </p:cNvCxnSpPr>
          <p:nvPr/>
        </p:nvCxnSpPr>
        <p:spPr>
          <a:xfrm>
            <a:off x="3942181" y="4052597"/>
            <a:ext cx="0" cy="11140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222481E6-D95E-467C-8AE6-7624CDEF1A11}"/>
              </a:ext>
            </a:extLst>
          </p:cNvPr>
          <p:cNvCxnSpPr>
            <a:stCxn id="2" idx="5"/>
          </p:cNvCxnSpPr>
          <p:nvPr/>
        </p:nvCxnSpPr>
        <p:spPr>
          <a:xfrm>
            <a:off x="4189871" y="3985642"/>
            <a:ext cx="156639" cy="7187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EB1919E2-00FD-4F88-BADB-BB007554A850}"/>
              </a:ext>
            </a:extLst>
          </p:cNvPr>
          <p:cNvCxnSpPr>
            <a:stCxn id="2" idx="6"/>
            <a:endCxn id="12" idx="0"/>
          </p:cNvCxnSpPr>
          <p:nvPr/>
        </p:nvCxnSpPr>
        <p:spPr>
          <a:xfrm>
            <a:off x="4292468" y="3823997"/>
            <a:ext cx="690701" cy="3631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91CC11BF-B949-477B-A0EF-D76BB13DB026}"/>
              </a:ext>
            </a:extLst>
          </p:cNvPr>
          <p:cNvCxnSpPr>
            <a:stCxn id="2" idx="7"/>
            <a:endCxn id="13" idx="1"/>
          </p:cNvCxnSpPr>
          <p:nvPr/>
        </p:nvCxnSpPr>
        <p:spPr>
          <a:xfrm>
            <a:off x="4189871" y="3662352"/>
            <a:ext cx="846172" cy="82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BF0A9189-DEC0-46E5-9859-606D1444A6B5}"/>
              </a:ext>
            </a:extLst>
          </p:cNvPr>
          <p:cNvCxnSpPr>
            <a:stCxn id="2" idx="1"/>
            <a:endCxn id="16" idx="3"/>
          </p:cNvCxnSpPr>
          <p:nvPr/>
        </p:nvCxnSpPr>
        <p:spPr>
          <a:xfrm flipH="1" flipV="1">
            <a:off x="2723552" y="3454194"/>
            <a:ext cx="970939" cy="2081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CB2409DB-58C0-4EFB-9BF5-2763E9F30575}"/>
              </a:ext>
            </a:extLst>
          </p:cNvPr>
          <p:cNvCxnSpPr>
            <a:stCxn id="2" idx="2"/>
            <a:endCxn id="15" idx="3"/>
          </p:cNvCxnSpPr>
          <p:nvPr/>
        </p:nvCxnSpPr>
        <p:spPr>
          <a:xfrm flipH="1">
            <a:off x="3078322" y="3823997"/>
            <a:ext cx="513572" cy="2254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7C3479BE-9EF7-4704-972D-99C125050BEC}"/>
              </a:ext>
            </a:extLst>
          </p:cNvPr>
          <p:cNvCxnSpPr>
            <a:stCxn id="8" idx="4"/>
            <a:endCxn id="2" idx="0"/>
          </p:cNvCxnSpPr>
          <p:nvPr/>
        </p:nvCxnSpPr>
        <p:spPr>
          <a:xfrm>
            <a:off x="3942181" y="3327817"/>
            <a:ext cx="0" cy="2675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4FE5362-2752-4886-AA5A-E744A156CD3B}"/>
              </a:ext>
            </a:extLst>
          </p:cNvPr>
          <p:cNvCxnSpPr>
            <a:stCxn id="23" idx="2"/>
            <a:endCxn id="8" idx="7"/>
          </p:cNvCxnSpPr>
          <p:nvPr/>
        </p:nvCxnSpPr>
        <p:spPr>
          <a:xfrm flipH="1">
            <a:off x="4476598" y="2760306"/>
            <a:ext cx="341108" cy="1693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BAB9718D-4A9F-4964-B619-6C7FAA552E9D}"/>
              </a:ext>
            </a:extLst>
          </p:cNvPr>
          <p:cNvCxnSpPr/>
          <p:nvPr/>
        </p:nvCxnSpPr>
        <p:spPr>
          <a:xfrm>
            <a:off x="6299718" y="2861286"/>
            <a:ext cx="443204" cy="1634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42006589-3BA3-4D2F-AB2F-CDC7C3416E7F}"/>
              </a:ext>
            </a:extLst>
          </p:cNvPr>
          <p:cNvCxnSpPr>
            <a:stCxn id="7" idx="4"/>
            <a:endCxn id="5" idx="0"/>
          </p:cNvCxnSpPr>
          <p:nvPr/>
        </p:nvCxnSpPr>
        <p:spPr>
          <a:xfrm>
            <a:off x="6960637" y="3503077"/>
            <a:ext cx="0" cy="739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49CBF1B7-9E83-4E5B-856D-438BFFFECE15}"/>
              </a:ext>
            </a:extLst>
          </p:cNvPr>
          <p:cNvCxnSpPr>
            <a:stCxn id="7" idx="6"/>
          </p:cNvCxnSpPr>
          <p:nvPr/>
        </p:nvCxnSpPr>
        <p:spPr>
          <a:xfrm>
            <a:off x="7716417" y="3269812"/>
            <a:ext cx="968828" cy="4337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1B42263D-BE53-49A6-B155-13CA092AE9A7}"/>
              </a:ext>
            </a:extLst>
          </p:cNvPr>
          <p:cNvCxnSpPr>
            <a:stCxn id="5" idx="4"/>
            <a:endCxn id="21" idx="0"/>
          </p:cNvCxnSpPr>
          <p:nvPr/>
        </p:nvCxnSpPr>
        <p:spPr>
          <a:xfrm flipH="1">
            <a:off x="6742923" y="4708849"/>
            <a:ext cx="217714" cy="4976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42ECE77E-534F-421D-9C7C-5AF9E64EC21E}"/>
              </a:ext>
            </a:extLst>
          </p:cNvPr>
          <p:cNvCxnSpPr>
            <a:endCxn id="20" idx="0"/>
          </p:cNvCxnSpPr>
          <p:nvPr/>
        </p:nvCxnSpPr>
        <p:spPr>
          <a:xfrm>
            <a:off x="7233558" y="4711440"/>
            <a:ext cx="708350" cy="5002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7122D7AE-4091-45C0-9278-C3E59DFF8747}"/>
              </a:ext>
            </a:extLst>
          </p:cNvPr>
          <p:cNvCxnSpPr>
            <a:stCxn id="5" idx="6"/>
            <a:endCxn id="19" idx="1"/>
          </p:cNvCxnSpPr>
          <p:nvPr/>
        </p:nvCxnSpPr>
        <p:spPr>
          <a:xfrm>
            <a:off x="7716417" y="4475584"/>
            <a:ext cx="912843" cy="4014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C3A99E77-2682-4FC6-B728-CAADDFDD4D84}"/>
              </a:ext>
            </a:extLst>
          </p:cNvPr>
          <p:cNvCxnSpPr>
            <a:endCxn id="18" idx="0"/>
          </p:cNvCxnSpPr>
          <p:nvPr/>
        </p:nvCxnSpPr>
        <p:spPr>
          <a:xfrm flipH="1">
            <a:off x="6959083" y="5577164"/>
            <a:ext cx="644589" cy="4356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65C00894-1782-46A0-8C40-FE16605AE237}"/>
              </a:ext>
            </a:extLst>
          </p:cNvPr>
          <p:cNvCxnSpPr>
            <a:stCxn id="20" idx="2"/>
            <a:endCxn id="17" idx="0"/>
          </p:cNvCxnSpPr>
          <p:nvPr/>
        </p:nvCxnSpPr>
        <p:spPr>
          <a:xfrm>
            <a:off x="7941908" y="5556896"/>
            <a:ext cx="17107" cy="8605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AB3D6F65-77A3-4135-9AD2-CA7C9D211859}"/>
              </a:ext>
            </a:extLst>
          </p:cNvPr>
          <p:cNvCxnSpPr>
            <a:endCxn id="25" idx="0"/>
          </p:cNvCxnSpPr>
          <p:nvPr/>
        </p:nvCxnSpPr>
        <p:spPr>
          <a:xfrm>
            <a:off x="8291024" y="5546321"/>
            <a:ext cx="394222" cy="3716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A07211CC-8348-44CF-92C4-426758DF1D89}"/>
              </a:ext>
            </a:extLst>
          </p:cNvPr>
          <p:cNvCxnSpPr>
            <a:stCxn id="20" idx="3"/>
            <a:endCxn id="24" idx="1"/>
          </p:cNvCxnSpPr>
          <p:nvPr/>
        </p:nvCxnSpPr>
        <p:spPr>
          <a:xfrm>
            <a:off x="8385112" y="5384280"/>
            <a:ext cx="687352" cy="1990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Rectangle 75">
            <a:extLst>
              <a:ext uri="{FF2B5EF4-FFF2-40B4-BE49-F238E27FC236}">
                <a16:creationId xmlns:a16="http://schemas.microsoft.com/office/drawing/2014/main" id="{AD17D6D9-9AF4-432E-8C4A-E3F8023DB71F}"/>
              </a:ext>
            </a:extLst>
          </p:cNvPr>
          <p:cNvSpPr/>
          <p:nvPr/>
        </p:nvSpPr>
        <p:spPr>
          <a:xfrm>
            <a:off x="5261560" y="5206481"/>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Return book</a:t>
            </a:r>
          </a:p>
        </p:txBody>
      </p:sp>
      <p:sp>
        <p:nvSpPr>
          <p:cNvPr id="77" name="Rectangle 76">
            <a:extLst>
              <a:ext uri="{FF2B5EF4-FFF2-40B4-BE49-F238E27FC236}">
                <a16:creationId xmlns:a16="http://schemas.microsoft.com/office/drawing/2014/main" id="{8A1478B9-DA93-462E-B292-ADA80635BD31}"/>
              </a:ext>
            </a:extLst>
          </p:cNvPr>
          <p:cNvSpPr/>
          <p:nvPr/>
        </p:nvSpPr>
        <p:spPr>
          <a:xfrm>
            <a:off x="5263870" y="4655248"/>
            <a:ext cx="886409" cy="3452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latin typeface="Times New Roman" panose="02020603050405020304" pitchFamily="18" charset="0"/>
                <a:cs typeface="Times New Roman" panose="02020603050405020304" pitchFamily="18" charset="0"/>
              </a:rPr>
              <a:t>Renew book</a:t>
            </a:r>
          </a:p>
        </p:txBody>
      </p:sp>
      <p:cxnSp>
        <p:nvCxnSpPr>
          <p:cNvPr id="79" name="Straight Arrow Connector 78">
            <a:extLst>
              <a:ext uri="{FF2B5EF4-FFF2-40B4-BE49-F238E27FC236}">
                <a16:creationId xmlns:a16="http://schemas.microsoft.com/office/drawing/2014/main" id="{89809A69-65DD-4ADF-934D-A7C9486151FA}"/>
              </a:ext>
            </a:extLst>
          </p:cNvPr>
          <p:cNvCxnSpPr>
            <a:stCxn id="5" idx="3"/>
          </p:cNvCxnSpPr>
          <p:nvPr/>
        </p:nvCxnSpPr>
        <p:spPr>
          <a:xfrm flipH="1">
            <a:off x="6147969" y="4640527"/>
            <a:ext cx="278251" cy="5659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a:extLst>
              <a:ext uri="{FF2B5EF4-FFF2-40B4-BE49-F238E27FC236}">
                <a16:creationId xmlns:a16="http://schemas.microsoft.com/office/drawing/2014/main" id="{2A4EF0FB-B209-473B-A36B-CCDE7D74D18C}"/>
              </a:ext>
            </a:extLst>
          </p:cNvPr>
          <p:cNvCxnSpPr>
            <a:stCxn id="5" idx="2"/>
          </p:cNvCxnSpPr>
          <p:nvPr/>
        </p:nvCxnSpPr>
        <p:spPr>
          <a:xfrm flipH="1">
            <a:off x="5824302" y="4475584"/>
            <a:ext cx="380555" cy="1796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D130F3B-0EAD-404D-A201-CCE858E52EC0}"/>
              </a:ext>
            </a:extLst>
          </p:cNvPr>
          <p:cNvCxnSpPr>
            <a:endCxn id="9" idx="0"/>
          </p:cNvCxnSpPr>
          <p:nvPr/>
        </p:nvCxnSpPr>
        <p:spPr>
          <a:xfrm flipH="1">
            <a:off x="3078323" y="5511902"/>
            <a:ext cx="364673" cy="3481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49E466DC-E77C-4DD2-AC85-2AC443C24860}"/>
              </a:ext>
            </a:extLst>
          </p:cNvPr>
          <p:cNvCxnSpPr>
            <a:endCxn id="22" idx="0"/>
          </p:cNvCxnSpPr>
          <p:nvPr/>
        </p:nvCxnSpPr>
        <p:spPr>
          <a:xfrm>
            <a:off x="3942181" y="5511902"/>
            <a:ext cx="847534" cy="4456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7803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BDB37F-2907-40A1-88E7-904B0F395FDF}"/>
              </a:ext>
            </a:extLst>
          </p:cNvPr>
          <p:cNvSpPr/>
          <p:nvPr/>
        </p:nvSpPr>
        <p:spPr>
          <a:xfrm>
            <a:off x="1027462" y="709327"/>
            <a:ext cx="7879080"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Advantages of application</a:t>
            </a:r>
          </a:p>
        </p:txBody>
      </p:sp>
      <p:sp>
        <p:nvSpPr>
          <p:cNvPr id="2" name="TextBox 1">
            <a:extLst>
              <a:ext uri="{FF2B5EF4-FFF2-40B4-BE49-F238E27FC236}">
                <a16:creationId xmlns:a16="http://schemas.microsoft.com/office/drawing/2014/main" id="{3B298E1B-9C71-41EA-9D3F-66F2AFCB697F}"/>
              </a:ext>
            </a:extLst>
          </p:cNvPr>
          <p:cNvSpPr txBox="1"/>
          <p:nvPr/>
        </p:nvSpPr>
        <p:spPr>
          <a:xfrm>
            <a:off x="600069" y="2446070"/>
            <a:ext cx="9719588" cy="258532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This project can be used for any company, for infinite number of products, and for                     infinite number of categories as it is totally generic.</a:t>
            </a:r>
          </a:p>
          <a:p>
            <a:r>
              <a:rPr lang="en-US" dirty="0">
                <a:latin typeface="Times New Roman" panose="02020603050405020304" pitchFamily="18" charset="0"/>
                <a:cs typeface="Times New Roman" panose="02020603050405020304" pitchFamily="18" charset="0"/>
              </a:rPr>
              <a:t>■  The data of the member would be entered in the database.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There would be a safe storage of information of the member in the database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quick,easy,flexible</a:t>
            </a:r>
            <a:r>
              <a:rPr lang="en-US" dirty="0">
                <a:latin typeface="Times New Roman" panose="02020603050405020304" pitchFamily="18" charset="0"/>
                <a:cs typeface="Times New Roman" panose="02020603050405020304" pitchFamily="18" charset="0"/>
              </a:rPr>
              <a:t> generation of the member reports</a:t>
            </a:r>
          </a:p>
          <a:p>
            <a:r>
              <a:rPr lang="en-US" dirty="0">
                <a:latin typeface="Times New Roman" panose="02020603050405020304" pitchFamily="18" charset="0"/>
                <a:cs typeface="Times New Roman" panose="02020603050405020304" pitchFamily="18" charset="0"/>
              </a:rPr>
              <a:t>■  with the database any data can be added , modified, deleted very quickly</a:t>
            </a:r>
          </a:p>
          <a:p>
            <a:r>
              <a:rPr lang="en-US" dirty="0">
                <a:latin typeface="Times New Roman" panose="02020603050405020304" pitchFamily="18" charset="0"/>
                <a:cs typeface="Times New Roman" panose="02020603050405020304" pitchFamily="18" charset="0"/>
              </a:rPr>
              <a:t>■  security features are very much provided in the system</a:t>
            </a:r>
          </a:p>
          <a:p>
            <a:r>
              <a:rPr lang="en-US" dirty="0">
                <a:latin typeface="Times New Roman" panose="02020603050405020304" pitchFamily="18" charset="0"/>
                <a:cs typeface="Times New Roman" panose="02020603050405020304" pitchFamily="18" charset="0"/>
              </a:rPr>
              <a:t>■   user friendly environment</a:t>
            </a:r>
          </a:p>
        </p:txBody>
      </p:sp>
    </p:spTree>
    <p:extLst>
      <p:ext uri="{BB962C8B-B14F-4D97-AF65-F5344CB8AC3E}">
        <p14:creationId xmlns:p14="http://schemas.microsoft.com/office/powerpoint/2010/main" val="2409691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964C-CD53-41B1-91F7-69E69A5F3D93}"/>
              </a:ext>
            </a:extLst>
          </p:cNvPr>
          <p:cNvSpPr>
            <a:spLocks noGrp="1"/>
          </p:cNvSpPr>
          <p:nvPr>
            <p:ph type="title"/>
          </p:nvPr>
        </p:nvSpPr>
        <p:spPr/>
        <p:txBody>
          <a:bodyPr/>
          <a:lstStyle/>
          <a:p>
            <a:r>
              <a:rPr lang="en-US" b="1" dirty="0">
                <a:solidFill>
                  <a:schemeClr val="accent4">
                    <a:lumMod val="75000"/>
                  </a:schemeClr>
                </a:solidFill>
              </a:rPr>
              <a:t>Software tools used</a:t>
            </a:r>
          </a:p>
        </p:txBody>
      </p:sp>
      <p:sp>
        <p:nvSpPr>
          <p:cNvPr id="4" name="TextBox 3">
            <a:extLst>
              <a:ext uri="{FF2B5EF4-FFF2-40B4-BE49-F238E27FC236}">
                <a16:creationId xmlns:a16="http://schemas.microsoft.com/office/drawing/2014/main" id="{C9A5D287-7D14-45E6-AE34-2A58D6FCF149}"/>
              </a:ext>
            </a:extLst>
          </p:cNvPr>
          <p:cNvSpPr txBox="1"/>
          <p:nvPr/>
        </p:nvSpPr>
        <p:spPr>
          <a:xfrm>
            <a:off x="872412" y="2272004"/>
            <a:ext cx="172149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ECLIPSE</a:t>
            </a:r>
          </a:p>
        </p:txBody>
      </p:sp>
      <p:sp>
        <p:nvSpPr>
          <p:cNvPr id="5" name="TextBox 4">
            <a:extLst>
              <a:ext uri="{FF2B5EF4-FFF2-40B4-BE49-F238E27FC236}">
                <a16:creationId xmlns:a16="http://schemas.microsoft.com/office/drawing/2014/main" id="{545CD3BA-E9BE-4B38-A820-4DBB32110E3B}"/>
              </a:ext>
            </a:extLst>
          </p:cNvPr>
          <p:cNvSpPr txBox="1"/>
          <p:nvPr/>
        </p:nvSpPr>
        <p:spPr>
          <a:xfrm>
            <a:off x="872412" y="2621902"/>
            <a:ext cx="10352315" cy="3693319"/>
          </a:xfrm>
          <a:prstGeom prst="rect">
            <a:avLst/>
          </a:prstGeom>
          <a:noFill/>
        </p:spPr>
        <p:txBody>
          <a:bodyPr wrap="square" rtlCol="0">
            <a:spAutoFit/>
          </a:bodyPr>
          <a:lstStyle/>
          <a:p>
            <a:pPr algn="just"/>
            <a:endParaRPr lang="en-US" dirty="0">
              <a:solidFill>
                <a:schemeClr val="tx1">
                  <a:lumMod val="85000"/>
                </a:schemeClr>
              </a:solidFill>
              <a:latin typeface="arial" panose="020B0604020202020204" pitchFamily="34" charset="0"/>
            </a:endParaRPr>
          </a:p>
          <a:p>
            <a:pPr algn="just"/>
            <a:r>
              <a:rPr lang="en-US" dirty="0">
                <a:solidFill>
                  <a:schemeClr val="tx1">
                    <a:lumMod val="85000"/>
                  </a:schemeClr>
                </a:solidFill>
                <a:latin typeface="arial" panose="020B0604020202020204" pitchFamily="34" charset="0"/>
              </a:rPr>
              <a:t>Eclipse is an integrated development environment (IDE) used in computer programming. It contains a base workspace and an extensible plug-in system for customizing the environment. ... The Eclipse software development kit (SDK), which includes the Java development tools, is meant for Java developers.</a:t>
            </a:r>
          </a:p>
          <a:p>
            <a:pPr algn="just"/>
            <a:endParaRPr lang="en-US" dirty="0">
              <a:solidFill>
                <a:schemeClr val="tx1">
                  <a:lumMod val="85000"/>
                </a:schemeClr>
              </a:solidFill>
              <a:latin typeface="arial" panose="020B0604020202020204" pitchFamily="34" charset="0"/>
            </a:endParaRPr>
          </a:p>
          <a:p>
            <a:pPr algn="just"/>
            <a:r>
              <a:rPr lang="en-US" dirty="0">
                <a:solidFill>
                  <a:schemeClr val="tx1">
                    <a:lumMod val="85000"/>
                  </a:schemeClr>
                </a:solidFill>
                <a:latin typeface="arial" panose="020B0604020202020204" pitchFamily="34" charset="0"/>
              </a:rPr>
              <a:t>•  </a:t>
            </a:r>
            <a:r>
              <a:rPr lang="en-US" dirty="0">
                <a:solidFill>
                  <a:schemeClr val="tx1">
                    <a:lumMod val="85000"/>
                  </a:schemeClr>
                </a:solidFill>
              </a:rPr>
              <a:t>The Java Development Tools (JDT) project provides a plug-in that allows Eclipse to be used as a Java IDE, </a:t>
            </a:r>
            <a:r>
              <a:rPr lang="en-US" dirty="0" err="1">
                <a:solidFill>
                  <a:schemeClr val="tx1">
                    <a:lumMod val="85000"/>
                  </a:schemeClr>
                </a:solidFill>
              </a:rPr>
              <a:t>PyDev</a:t>
            </a:r>
            <a:r>
              <a:rPr lang="en-US" dirty="0">
                <a:solidFill>
                  <a:schemeClr val="tx1">
                    <a:lumMod val="85000"/>
                  </a:schemeClr>
                </a:solidFill>
              </a:rPr>
              <a:t> is a plugin that allows Eclipse to be used as a Python IDE, C/C++ Development Tools (CDT) is a plug-in that allows Eclipse to be used for developing application using C/C++, the Eclipse Scala plug-in allows Eclipse to be used an IDE to develop Scala applications and </a:t>
            </a:r>
            <a:r>
              <a:rPr lang="en-US" dirty="0" err="1">
                <a:solidFill>
                  <a:schemeClr val="tx1">
                    <a:lumMod val="85000"/>
                  </a:schemeClr>
                </a:solidFill>
              </a:rPr>
              <a:t>PHPeclipse</a:t>
            </a:r>
            <a:r>
              <a:rPr lang="en-US" dirty="0">
                <a:solidFill>
                  <a:schemeClr val="tx1">
                    <a:lumMod val="85000"/>
                  </a:schemeClr>
                </a:solidFill>
              </a:rPr>
              <a:t> is a plug-in to eclipse that provides complete development tool for PHP.</a:t>
            </a:r>
          </a:p>
          <a:p>
            <a:endParaRPr lang="en-US" dirty="0"/>
          </a:p>
        </p:txBody>
      </p:sp>
    </p:spTree>
    <p:extLst>
      <p:ext uri="{BB962C8B-B14F-4D97-AF65-F5344CB8AC3E}">
        <p14:creationId xmlns:p14="http://schemas.microsoft.com/office/powerpoint/2010/main" val="45765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71AD0-D6DC-45F5-9CE6-97F08104606C}"/>
              </a:ext>
            </a:extLst>
          </p:cNvPr>
          <p:cNvSpPr>
            <a:spLocks noGrp="1"/>
          </p:cNvSpPr>
          <p:nvPr>
            <p:ph type="title"/>
          </p:nvPr>
        </p:nvSpPr>
        <p:spPr/>
        <p:txBody>
          <a:bodyPr/>
          <a:lstStyle/>
          <a:p>
            <a:r>
              <a:rPr lang="en-US" b="1" dirty="0">
                <a:solidFill>
                  <a:schemeClr val="accent4">
                    <a:lumMod val="75000"/>
                  </a:schemeClr>
                </a:solidFill>
              </a:rPr>
              <a:t>SWING</a:t>
            </a:r>
          </a:p>
        </p:txBody>
      </p:sp>
      <p:sp>
        <p:nvSpPr>
          <p:cNvPr id="4" name="TextBox 3">
            <a:extLst>
              <a:ext uri="{FF2B5EF4-FFF2-40B4-BE49-F238E27FC236}">
                <a16:creationId xmlns:a16="http://schemas.microsoft.com/office/drawing/2014/main" id="{6F532CB5-5816-4252-9B1C-D53159965A53}"/>
              </a:ext>
            </a:extLst>
          </p:cNvPr>
          <p:cNvSpPr txBox="1"/>
          <p:nvPr/>
        </p:nvSpPr>
        <p:spPr>
          <a:xfrm>
            <a:off x="639145" y="2575249"/>
            <a:ext cx="11117426"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t>Swing in Java is a lightweight GUI toolkit which has a wide variety of widgets for building optimized window based applications. It is a part of the JFC( Java Foundation Classes). It is build on top of the AWT API and entirely written in java. It is platform independent unlike AWT and has lightweight components.</a:t>
            </a:r>
          </a:p>
          <a:p>
            <a:pPr marL="285750" indent="-285750" algn="just">
              <a:buFont typeface="Arial" panose="020B0604020202020204" pitchFamily="34" charset="0"/>
              <a:buChar char="•"/>
            </a:pPr>
            <a:r>
              <a:rPr lang="en-US" dirty="0"/>
              <a:t>It becomes easier to build applications since we already have GUI components like button, checkbox etc. This is helpful because we do not have to start from the scratch.</a:t>
            </a:r>
          </a:p>
          <a:p>
            <a:endParaRPr lang="en-US" dirty="0"/>
          </a:p>
        </p:txBody>
      </p:sp>
    </p:spTree>
    <p:extLst>
      <p:ext uri="{BB962C8B-B14F-4D97-AF65-F5344CB8AC3E}">
        <p14:creationId xmlns:p14="http://schemas.microsoft.com/office/powerpoint/2010/main" val="1172966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A774A-BBB9-4680-A284-11FD31BF9D12}"/>
              </a:ext>
            </a:extLst>
          </p:cNvPr>
          <p:cNvSpPr>
            <a:spLocks noGrp="1"/>
          </p:cNvSpPr>
          <p:nvPr>
            <p:ph type="title"/>
          </p:nvPr>
        </p:nvSpPr>
        <p:spPr/>
        <p:txBody>
          <a:bodyPr/>
          <a:lstStyle/>
          <a:p>
            <a:r>
              <a:rPr lang="en-US" dirty="0"/>
              <a:t>JAVA SWING HIERACHIE</a:t>
            </a:r>
          </a:p>
        </p:txBody>
      </p:sp>
      <p:pic>
        <p:nvPicPr>
          <p:cNvPr id="5" name="Content Placeholder 7">
            <a:extLst>
              <a:ext uri="{FF2B5EF4-FFF2-40B4-BE49-F238E27FC236}">
                <a16:creationId xmlns:a16="http://schemas.microsoft.com/office/drawing/2014/main" id="{55F010F5-FC51-4B9B-92E5-5E8046B777B2}"/>
              </a:ext>
            </a:extLst>
          </p:cNvPr>
          <p:cNvPicPr>
            <a:picLocks noGrp="1" noChangeAspect="1"/>
          </p:cNvPicPr>
          <p:nvPr>
            <p:ph idx="1"/>
          </p:nvPr>
        </p:nvPicPr>
        <p:blipFill>
          <a:blip r:embed="rId2"/>
          <a:stretch>
            <a:fillRect/>
          </a:stretch>
        </p:blipFill>
        <p:spPr>
          <a:xfrm>
            <a:off x="3247053" y="2777485"/>
            <a:ext cx="5383763" cy="3467320"/>
          </a:xfrm>
        </p:spPr>
      </p:pic>
    </p:spTree>
    <p:extLst>
      <p:ext uri="{BB962C8B-B14F-4D97-AF65-F5344CB8AC3E}">
        <p14:creationId xmlns:p14="http://schemas.microsoft.com/office/powerpoint/2010/main" val="3716056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43F60-2B04-4D01-9927-5DBB0220C84D}"/>
              </a:ext>
            </a:extLst>
          </p:cNvPr>
          <p:cNvSpPr>
            <a:spLocks noGrp="1"/>
          </p:cNvSpPr>
          <p:nvPr>
            <p:ph type="title"/>
          </p:nvPr>
        </p:nvSpPr>
        <p:spPr/>
        <p:txBody>
          <a:bodyPr/>
          <a:lstStyle/>
          <a:p>
            <a:r>
              <a:rPr lang="en-US" b="1" dirty="0">
                <a:solidFill>
                  <a:schemeClr val="accent4">
                    <a:lumMod val="75000"/>
                  </a:schemeClr>
                </a:solidFill>
              </a:rPr>
              <a:t>MYSQL</a:t>
            </a:r>
          </a:p>
        </p:txBody>
      </p:sp>
      <p:sp>
        <p:nvSpPr>
          <p:cNvPr id="6" name="TextBox 5">
            <a:extLst>
              <a:ext uri="{FF2B5EF4-FFF2-40B4-BE49-F238E27FC236}">
                <a16:creationId xmlns:a16="http://schemas.microsoft.com/office/drawing/2014/main" id="{D1A20028-050D-4E34-83F2-336E6E40EE51}"/>
              </a:ext>
            </a:extLst>
          </p:cNvPr>
          <p:cNvSpPr txBox="1"/>
          <p:nvPr/>
        </p:nvSpPr>
        <p:spPr>
          <a:xfrm>
            <a:off x="5640355" y="2962469"/>
            <a:ext cx="914400" cy="914400"/>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24980A40-5B30-4251-B3BE-43F9FDD0377F}"/>
              </a:ext>
            </a:extLst>
          </p:cNvPr>
          <p:cNvSpPr txBox="1"/>
          <p:nvPr/>
        </p:nvSpPr>
        <p:spPr>
          <a:xfrm>
            <a:off x="793102" y="2722707"/>
            <a:ext cx="10356979" cy="2308324"/>
          </a:xfrm>
          <a:prstGeom prst="rect">
            <a:avLst/>
          </a:prstGeom>
          <a:noFill/>
        </p:spPr>
        <p:txBody>
          <a:bodyPr wrap="square" rtlCol="0">
            <a:spAutoFit/>
          </a:bodyPr>
          <a:lstStyle/>
          <a:p>
            <a:pPr marL="285750" indent="-285750" fontAlgn="base">
              <a:buFont typeface="Arial" panose="020B0604020202020204" pitchFamily="34" charset="0"/>
              <a:buChar char="•"/>
            </a:pPr>
            <a:r>
              <a:rPr lang="en-US" dirty="0"/>
              <a:t>MySQL is a database management system.</a:t>
            </a:r>
          </a:p>
          <a:p>
            <a:pPr marL="285750" indent="-285750" fontAlgn="base">
              <a:buFont typeface="Arial" panose="020B0604020202020204" pitchFamily="34" charset="0"/>
              <a:buChar char="•"/>
            </a:pPr>
            <a:r>
              <a:rPr lang="en-US" dirty="0"/>
              <a:t>MySQL databases are relational.</a:t>
            </a:r>
          </a:p>
          <a:p>
            <a:pPr marL="285750" indent="-285750" fontAlgn="base">
              <a:buFont typeface="Arial" panose="020B0604020202020204" pitchFamily="34" charset="0"/>
              <a:buChar char="•"/>
            </a:pPr>
            <a:r>
              <a:rPr lang="en-US" dirty="0"/>
              <a:t>MySQL software is Open Source.</a:t>
            </a:r>
          </a:p>
          <a:p>
            <a:pPr marL="285750" indent="-285750" fontAlgn="base">
              <a:buFont typeface="Arial" panose="020B0604020202020204" pitchFamily="34" charset="0"/>
              <a:buChar char="•"/>
            </a:pPr>
            <a:r>
              <a:rPr lang="en-US" dirty="0"/>
              <a:t>The MySQL Database Server is very fast, reliable, scalable, and easy to use.</a:t>
            </a:r>
          </a:p>
          <a:p>
            <a:pPr marL="285750" indent="-285750" fontAlgn="base">
              <a:buFont typeface="Arial" panose="020B0604020202020204" pitchFamily="34" charset="0"/>
              <a:buChar char="•"/>
            </a:pPr>
            <a:r>
              <a:rPr lang="en-US" dirty="0"/>
              <a:t>MySQL Server works in client/server or embedded systems.</a:t>
            </a:r>
          </a:p>
          <a:p>
            <a:pPr marL="285750" indent="-285750" fontAlgn="base">
              <a:buFont typeface="Arial" panose="020B0604020202020204" pitchFamily="34" charset="0"/>
              <a:buChar char="•"/>
            </a:pPr>
            <a:r>
              <a:rPr lang="en-US" dirty="0"/>
              <a:t>A large amount of contributed MySQL software is available.</a:t>
            </a:r>
          </a:p>
          <a:p>
            <a:endParaRPr lang="en-US" dirty="0"/>
          </a:p>
          <a:p>
            <a:endParaRPr lang="en-US" dirty="0"/>
          </a:p>
        </p:txBody>
      </p:sp>
    </p:spTree>
    <p:extLst>
      <p:ext uri="{BB962C8B-B14F-4D97-AF65-F5344CB8AC3E}">
        <p14:creationId xmlns:p14="http://schemas.microsoft.com/office/powerpoint/2010/main" val="300601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DF21-1A3A-4634-8BD7-D8B9BF5DC42C}"/>
              </a:ext>
            </a:extLst>
          </p:cNvPr>
          <p:cNvSpPr>
            <a:spLocks noGrp="1"/>
          </p:cNvSpPr>
          <p:nvPr>
            <p:ph type="title"/>
          </p:nvPr>
        </p:nvSpPr>
        <p:spPr/>
        <p:txBody>
          <a:bodyPr/>
          <a:lstStyle/>
          <a:p>
            <a:r>
              <a:rPr lang="en-US" b="1" dirty="0">
                <a:solidFill>
                  <a:schemeClr val="accent4">
                    <a:lumMod val="75000"/>
                  </a:schemeClr>
                </a:solidFill>
              </a:rPr>
              <a:t>JDBC CONNECTIVITY</a:t>
            </a:r>
          </a:p>
        </p:txBody>
      </p:sp>
      <p:sp>
        <p:nvSpPr>
          <p:cNvPr id="4" name="TextBox 3">
            <a:extLst>
              <a:ext uri="{FF2B5EF4-FFF2-40B4-BE49-F238E27FC236}">
                <a16:creationId xmlns:a16="http://schemas.microsoft.com/office/drawing/2014/main" id="{6D67A42E-266F-42A2-A685-1A65CAEB64CF}"/>
              </a:ext>
            </a:extLst>
          </p:cNvPr>
          <p:cNvSpPr txBox="1"/>
          <p:nvPr/>
        </p:nvSpPr>
        <p:spPr>
          <a:xfrm>
            <a:off x="891073" y="4520680"/>
            <a:ext cx="5052527" cy="2585323"/>
          </a:xfrm>
          <a:prstGeom prst="rect">
            <a:avLst/>
          </a:prstGeom>
          <a:noFill/>
        </p:spPr>
        <p:txBody>
          <a:bodyPr wrap="square" rtlCol="0">
            <a:spAutoFit/>
          </a:bodyPr>
          <a:lstStyle/>
          <a:p>
            <a:pPr marL="457200" indent="-457200">
              <a:buAutoNum type="arabicPeriod"/>
            </a:pPr>
            <a:r>
              <a:rPr lang="en-US" dirty="0"/>
              <a:t>Loading the Driver</a:t>
            </a:r>
          </a:p>
          <a:p>
            <a:pPr marL="457200" indent="-457200">
              <a:buAutoNum type="arabicPeriod"/>
            </a:pPr>
            <a:r>
              <a:rPr lang="en-US" dirty="0"/>
              <a:t>Create the connections</a:t>
            </a:r>
          </a:p>
          <a:p>
            <a:pPr marL="457200" indent="-457200">
              <a:buAutoNum type="arabicPeriod"/>
            </a:pPr>
            <a:r>
              <a:rPr lang="en-US" dirty="0"/>
              <a:t>Create a statement</a:t>
            </a:r>
          </a:p>
          <a:p>
            <a:pPr marL="457200" indent="-457200">
              <a:buAutoNum type="arabicPeriod"/>
            </a:pPr>
            <a:r>
              <a:rPr lang="en-US" dirty="0"/>
              <a:t>Execute the query</a:t>
            </a:r>
          </a:p>
          <a:p>
            <a:pPr marL="457200" indent="-457200">
              <a:buAutoNum type="arabicPeriod"/>
            </a:pPr>
            <a:r>
              <a:rPr lang="en-US" dirty="0"/>
              <a:t>Close the connections</a:t>
            </a:r>
            <a:br>
              <a:rPr lang="en-US" dirty="0"/>
            </a:br>
            <a:br>
              <a:rPr lang="en-US" dirty="0"/>
            </a:br>
            <a:br>
              <a:rPr lang="en-US" dirty="0"/>
            </a:br>
            <a:endParaRPr lang="en-US" dirty="0"/>
          </a:p>
          <a:p>
            <a:endParaRPr lang="en-US" dirty="0"/>
          </a:p>
        </p:txBody>
      </p:sp>
      <p:pic>
        <p:nvPicPr>
          <p:cNvPr id="5" name="Picture 4">
            <a:extLst>
              <a:ext uri="{FF2B5EF4-FFF2-40B4-BE49-F238E27FC236}">
                <a16:creationId xmlns:a16="http://schemas.microsoft.com/office/drawing/2014/main" id="{AD31EE8D-786E-4CA4-AA45-2D0AFB9B75DA}"/>
              </a:ext>
            </a:extLst>
          </p:cNvPr>
          <p:cNvPicPr>
            <a:picLocks noChangeAspect="1"/>
          </p:cNvPicPr>
          <p:nvPr/>
        </p:nvPicPr>
        <p:blipFill>
          <a:blip r:embed="rId2"/>
          <a:stretch>
            <a:fillRect/>
          </a:stretch>
        </p:blipFill>
        <p:spPr>
          <a:xfrm>
            <a:off x="4711854" y="4029165"/>
            <a:ext cx="6782388" cy="2324301"/>
          </a:xfrm>
          <a:prstGeom prst="rect">
            <a:avLst/>
          </a:prstGeom>
        </p:spPr>
      </p:pic>
      <p:sp>
        <p:nvSpPr>
          <p:cNvPr id="6" name="TextBox 5">
            <a:extLst>
              <a:ext uri="{FF2B5EF4-FFF2-40B4-BE49-F238E27FC236}">
                <a16:creationId xmlns:a16="http://schemas.microsoft.com/office/drawing/2014/main" id="{8FCAAD1B-E365-4D59-812A-0F3F841941AA}"/>
              </a:ext>
            </a:extLst>
          </p:cNvPr>
          <p:cNvSpPr txBox="1"/>
          <p:nvPr/>
        </p:nvSpPr>
        <p:spPr>
          <a:xfrm>
            <a:off x="697758" y="2551837"/>
            <a:ext cx="10898155" cy="147732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JDBC stands for Java Database Connectivity. JDBC is a Java API to connect and execute the query with the database. It is a part of </a:t>
            </a:r>
            <a:r>
              <a:rPr lang="en-US" dirty="0" err="1">
                <a:latin typeface="Times New Roman" panose="02020603050405020304" pitchFamily="18" charset="0"/>
                <a:cs typeface="Times New Roman" panose="02020603050405020304" pitchFamily="18" charset="0"/>
              </a:rPr>
              <a:t>JavaSE</a:t>
            </a:r>
            <a:r>
              <a:rPr lang="en-US" dirty="0">
                <a:latin typeface="Times New Roman" panose="02020603050405020304" pitchFamily="18" charset="0"/>
                <a:cs typeface="Times New Roman" panose="02020603050405020304" pitchFamily="18" charset="0"/>
              </a:rPr>
              <a:t> (Java Standard Edition). JDBC API uses JDBC drivers to connect with the database. </a:t>
            </a:r>
          </a:p>
          <a:p>
            <a:pPr algn="just"/>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We can use JDBC API to access tabular data stored in any relational database. By the help of JDBC API, we can save, update, delete and fetch data from the database. It is like Open Database Connectivity (ODBC) provided by Microsoft.</a:t>
            </a:r>
          </a:p>
        </p:txBody>
      </p:sp>
      <p:sp>
        <p:nvSpPr>
          <p:cNvPr id="7" name="TextBox 6">
            <a:extLst>
              <a:ext uri="{FF2B5EF4-FFF2-40B4-BE49-F238E27FC236}">
                <a16:creationId xmlns:a16="http://schemas.microsoft.com/office/drawing/2014/main" id="{ECECA69D-CE52-4AAF-B7D5-C3D305F5ECC7}"/>
              </a:ext>
            </a:extLst>
          </p:cNvPr>
          <p:cNvSpPr txBox="1"/>
          <p:nvPr/>
        </p:nvSpPr>
        <p:spPr>
          <a:xfrm>
            <a:off x="891073" y="4029165"/>
            <a:ext cx="3503645" cy="369332"/>
          </a:xfrm>
          <a:prstGeom prst="rect">
            <a:avLst/>
          </a:prstGeom>
          <a:noFill/>
        </p:spPr>
        <p:txBody>
          <a:bodyPr wrap="square" rtlCol="0">
            <a:spAutoFit/>
          </a:bodyPr>
          <a:lstStyle/>
          <a:p>
            <a:r>
              <a:rPr lang="en-US" b="1" dirty="0"/>
              <a:t>Steps of </a:t>
            </a:r>
            <a:r>
              <a:rPr lang="en-US" b="1" dirty="0" err="1"/>
              <a:t>jdbc</a:t>
            </a:r>
            <a:endParaRPr lang="en-US" b="1" dirty="0"/>
          </a:p>
        </p:txBody>
      </p:sp>
    </p:spTree>
    <p:extLst>
      <p:ext uri="{BB962C8B-B14F-4D97-AF65-F5344CB8AC3E}">
        <p14:creationId xmlns:p14="http://schemas.microsoft.com/office/powerpoint/2010/main" val="1673853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E17B80-96C0-4988-83D2-639AB9C59F38}"/>
              </a:ext>
            </a:extLst>
          </p:cNvPr>
          <p:cNvSpPr/>
          <p:nvPr/>
        </p:nvSpPr>
        <p:spPr>
          <a:xfrm>
            <a:off x="3917559" y="2463482"/>
            <a:ext cx="4916731" cy="1754326"/>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Snapshots of </a:t>
            </a:r>
          </a:p>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forms and </a:t>
            </a:r>
            <a:r>
              <a:rPr lang="en-US" sz="5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tabes</a:t>
            </a:r>
            <a:endPar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9781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9063D-753F-4375-9D8E-FD405BACE9AF}"/>
              </a:ext>
            </a:extLst>
          </p:cNvPr>
          <p:cNvSpPr>
            <a:spLocks noGrp="1"/>
          </p:cNvSpPr>
          <p:nvPr>
            <p:ph type="title"/>
          </p:nvPr>
        </p:nvSpPr>
        <p:spPr/>
        <p:txBody>
          <a:bodyPr/>
          <a:lstStyle/>
          <a:p>
            <a:r>
              <a:rPr lang="en-US" b="1" dirty="0"/>
              <a:t>Tables</a:t>
            </a:r>
          </a:p>
        </p:txBody>
      </p:sp>
      <p:pic>
        <p:nvPicPr>
          <p:cNvPr id="5" name="Picture 4">
            <a:extLst>
              <a:ext uri="{FF2B5EF4-FFF2-40B4-BE49-F238E27FC236}">
                <a16:creationId xmlns:a16="http://schemas.microsoft.com/office/drawing/2014/main" id="{392ABD39-23F2-4025-8F9C-5B25E3725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9607" y="3133612"/>
            <a:ext cx="2497870" cy="2685406"/>
          </a:xfrm>
          <a:prstGeom prst="rect">
            <a:avLst/>
          </a:prstGeom>
        </p:spPr>
      </p:pic>
      <p:pic>
        <p:nvPicPr>
          <p:cNvPr id="7" name="Picture 6">
            <a:extLst>
              <a:ext uri="{FF2B5EF4-FFF2-40B4-BE49-F238E27FC236}">
                <a16:creationId xmlns:a16="http://schemas.microsoft.com/office/drawing/2014/main" id="{AF241DBE-F944-4908-9081-01D3D8C59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0906" y="3133612"/>
            <a:ext cx="2308229" cy="2614045"/>
          </a:xfrm>
          <a:prstGeom prst="rect">
            <a:avLst/>
          </a:prstGeom>
        </p:spPr>
      </p:pic>
      <p:pic>
        <p:nvPicPr>
          <p:cNvPr id="9" name="Picture 8">
            <a:extLst>
              <a:ext uri="{FF2B5EF4-FFF2-40B4-BE49-F238E27FC236}">
                <a16:creationId xmlns:a16="http://schemas.microsoft.com/office/drawing/2014/main" id="{86843A12-E151-4E89-8AC7-367336B76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0737" y="2983976"/>
            <a:ext cx="2156079" cy="3547452"/>
          </a:xfrm>
          <a:prstGeom prst="rect">
            <a:avLst/>
          </a:prstGeom>
        </p:spPr>
      </p:pic>
      <p:sp>
        <p:nvSpPr>
          <p:cNvPr id="11" name="TextBox 10">
            <a:extLst>
              <a:ext uri="{FF2B5EF4-FFF2-40B4-BE49-F238E27FC236}">
                <a16:creationId xmlns:a16="http://schemas.microsoft.com/office/drawing/2014/main" id="{4F1BC029-742F-468C-9367-0CDB5FDD5960}"/>
              </a:ext>
            </a:extLst>
          </p:cNvPr>
          <p:cNvSpPr txBox="1"/>
          <p:nvPr/>
        </p:nvSpPr>
        <p:spPr>
          <a:xfrm>
            <a:off x="1619663" y="2488035"/>
            <a:ext cx="2156078" cy="36933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add_book</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235D6E4-6892-486F-BB3A-6CB06C1BD0EC}"/>
              </a:ext>
            </a:extLst>
          </p:cNvPr>
          <p:cNvSpPr txBox="1"/>
          <p:nvPr/>
        </p:nvSpPr>
        <p:spPr>
          <a:xfrm>
            <a:off x="0" y="2486256"/>
            <a:ext cx="1690883" cy="369332"/>
          </a:xfrm>
          <a:prstGeom prst="rect">
            <a:avLst/>
          </a:prstGeom>
          <a:noFill/>
        </p:spPr>
        <p:txBody>
          <a:bodyPr wrap="square" rtlCol="0">
            <a:spAutoFit/>
          </a:bodyPr>
          <a:lstStyle/>
          <a:p>
            <a:r>
              <a:rPr lang="en-US" b="1" dirty="0">
                <a:solidFill>
                  <a:srgbClr val="00B050"/>
                </a:solidFill>
                <a:latin typeface="Times New Roman" panose="02020603050405020304" pitchFamily="18" charset="0"/>
                <a:cs typeface="Times New Roman" panose="02020603050405020304" pitchFamily="18" charset="0"/>
              </a:rPr>
              <a:t>Table name:</a:t>
            </a:r>
          </a:p>
        </p:txBody>
      </p:sp>
      <p:sp>
        <p:nvSpPr>
          <p:cNvPr id="13" name="TextBox 12">
            <a:extLst>
              <a:ext uri="{FF2B5EF4-FFF2-40B4-BE49-F238E27FC236}">
                <a16:creationId xmlns:a16="http://schemas.microsoft.com/office/drawing/2014/main" id="{6E29F73F-5FAE-4D17-8504-0BE97F56D43C}"/>
              </a:ext>
            </a:extLst>
          </p:cNvPr>
          <p:cNvSpPr txBox="1"/>
          <p:nvPr/>
        </p:nvSpPr>
        <p:spPr>
          <a:xfrm>
            <a:off x="5299387" y="2486256"/>
            <a:ext cx="1593225" cy="36933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Admin_reg</a:t>
            </a:r>
            <a:endParaRPr lang="en-US"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C57B28F-E93B-4EF9-8725-08529E18BB49}"/>
              </a:ext>
            </a:extLst>
          </p:cNvPr>
          <p:cNvSpPr txBox="1"/>
          <p:nvPr/>
        </p:nvSpPr>
        <p:spPr>
          <a:xfrm>
            <a:off x="8924376" y="2486256"/>
            <a:ext cx="9144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ISSUE</a:t>
            </a:r>
          </a:p>
        </p:txBody>
      </p:sp>
    </p:spTree>
    <p:extLst>
      <p:ext uri="{BB962C8B-B14F-4D97-AF65-F5344CB8AC3E}">
        <p14:creationId xmlns:p14="http://schemas.microsoft.com/office/powerpoint/2010/main" val="3572512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32A442-4730-41FF-A575-D7A320D51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4995" y="1618608"/>
            <a:ext cx="2518099" cy="4031329"/>
          </a:xfrm>
          <a:prstGeom prst="rect">
            <a:avLst/>
          </a:prstGeom>
        </p:spPr>
      </p:pic>
      <p:pic>
        <p:nvPicPr>
          <p:cNvPr id="11" name="Picture 10">
            <a:extLst>
              <a:ext uri="{FF2B5EF4-FFF2-40B4-BE49-F238E27FC236}">
                <a16:creationId xmlns:a16="http://schemas.microsoft.com/office/drawing/2014/main" id="{5B6CE27A-A4E3-4C3B-9704-68FB93362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3642" y="1469319"/>
            <a:ext cx="2765428" cy="4959473"/>
          </a:xfrm>
          <a:prstGeom prst="rect">
            <a:avLst/>
          </a:prstGeom>
        </p:spPr>
      </p:pic>
      <p:sp>
        <p:nvSpPr>
          <p:cNvPr id="12" name="TextBox 11">
            <a:extLst>
              <a:ext uri="{FF2B5EF4-FFF2-40B4-BE49-F238E27FC236}">
                <a16:creationId xmlns:a16="http://schemas.microsoft.com/office/drawing/2014/main" id="{C94E0BB6-1995-49E5-8A61-E429EF2DFFC2}"/>
              </a:ext>
            </a:extLst>
          </p:cNvPr>
          <p:cNvSpPr txBox="1"/>
          <p:nvPr/>
        </p:nvSpPr>
        <p:spPr>
          <a:xfrm>
            <a:off x="209937" y="944286"/>
            <a:ext cx="1712169" cy="369332"/>
          </a:xfrm>
          <a:prstGeom prst="rect">
            <a:avLst/>
          </a:prstGeom>
          <a:noFill/>
        </p:spPr>
        <p:txBody>
          <a:bodyPr wrap="square" rtlCol="0">
            <a:spAutoFit/>
          </a:bodyPr>
          <a:lstStyle/>
          <a:p>
            <a:r>
              <a:rPr lang="en-US" b="1" dirty="0">
                <a:solidFill>
                  <a:srgbClr val="92D050"/>
                </a:solidFill>
                <a:latin typeface="Times New Roman" panose="02020603050405020304" pitchFamily="18" charset="0"/>
                <a:cs typeface="Times New Roman" panose="02020603050405020304" pitchFamily="18" charset="0"/>
              </a:rPr>
              <a:t>Table name:-</a:t>
            </a:r>
          </a:p>
        </p:txBody>
      </p:sp>
      <p:sp>
        <p:nvSpPr>
          <p:cNvPr id="13" name="TextBox 12">
            <a:extLst>
              <a:ext uri="{FF2B5EF4-FFF2-40B4-BE49-F238E27FC236}">
                <a16:creationId xmlns:a16="http://schemas.microsoft.com/office/drawing/2014/main" id="{9A95F383-8007-494D-B00D-3628ECFCB4AC}"/>
              </a:ext>
            </a:extLst>
          </p:cNvPr>
          <p:cNvSpPr txBox="1"/>
          <p:nvPr/>
        </p:nvSpPr>
        <p:spPr>
          <a:xfrm>
            <a:off x="2943807" y="944286"/>
            <a:ext cx="1562877" cy="36933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Return_db</a:t>
            </a:r>
            <a:endParaRPr lang="en-US"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701DCC8-5D03-4DDF-A18E-59D95F28F187}"/>
              </a:ext>
            </a:extLst>
          </p:cNvPr>
          <p:cNvSpPr txBox="1"/>
          <p:nvPr/>
        </p:nvSpPr>
        <p:spPr>
          <a:xfrm>
            <a:off x="7525139" y="939769"/>
            <a:ext cx="1562876" cy="36933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User_reg</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2231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A41CD6-3D3F-4109-BB83-A447CB2109AF}"/>
              </a:ext>
            </a:extLst>
          </p:cNvPr>
          <p:cNvSpPr txBox="1"/>
          <p:nvPr/>
        </p:nvSpPr>
        <p:spPr>
          <a:xfrm>
            <a:off x="4520680" y="2831841"/>
            <a:ext cx="4334069" cy="923330"/>
          </a:xfrm>
          <a:prstGeom prst="rect">
            <a:avLst/>
          </a:prstGeom>
          <a:noFill/>
        </p:spPr>
        <p:txBody>
          <a:bodyPr wrap="square" rtlCol="0">
            <a:spAutoFit/>
          </a:bodyPr>
          <a:lstStyle/>
          <a:p>
            <a:r>
              <a:rPr lang="en-US" sz="5400" dirty="0">
                <a:latin typeface="Times New Roman" panose="02020603050405020304" pitchFamily="18" charset="0"/>
                <a:cs typeface="Times New Roman" panose="02020603050405020304" pitchFamily="18" charset="0"/>
              </a:rPr>
              <a:t>Snapshots</a:t>
            </a:r>
          </a:p>
        </p:txBody>
      </p:sp>
    </p:spTree>
    <p:extLst>
      <p:ext uri="{BB962C8B-B14F-4D97-AF65-F5344CB8AC3E}">
        <p14:creationId xmlns:p14="http://schemas.microsoft.com/office/powerpoint/2010/main" val="1831334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C70C96-BFC9-4FAC-8BDD-52A9A4FC0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669" y="2037893"/>
            <a:ext cx="3314987" cy="3360711"/>
          </a:xfrm>
          <a:prstGeom prst="rect">
            <a:avLst/>
          </a:prstGeom>
        </p:spPr>
      </p:pic>
      <p:pic>
        <p:nvPicPr>
          <p:cNvPr id="5" name="Picture 4">
            <a:extLst>
              <a:ext uri="{FF2B5EF4-FFF2-40B4-BE49-F238E27FC236}">
                <a16:creationId xmlns:a16="http://schemas.microsoft.com/office/drawing/2014/main" id="{34214716-21AF-4AC2-9386-7C64C9FEBA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5183" y="2134619"/>
            <a:ext cx="4092295" cy="3391194"/>
          </a:xfrm>
          <a:prstGeom prst="rect">
            <a:avLst/>
          </a:prstGeom>
        </p:spPr>
      </p:pic>
      <p:sp>
        <p:nvSpPr>
          <p:cNvPr id="6" name="TextBox 5">
            <a:extLst>
              <a:ext uri="{FF2B5EF4-FFF2-40B4-BE49-F238E27FC236}">
                <a16:creationId xmlns:a16="http://schemas.microsoft.com/office/drawing/2014/main" id="{3F7E346F-56A3-4AB2-9E55-8227F0E45407}"/>
              </a:ext>
            </a:extLst>
          </p:cNvPr>
          <p:cNvSpPr txBox="1"/>
          <p:nvPr/>
        </p:nvSpPr>
        <p:spPr>
          <a:xfrm>
            <a:off x="1003040" y="1012371"/>
            <a:ext cx="121764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Modules</a:t>
            </a:r>
          </a:p>
        </p:txBody>
      </p:sp>
      <p:sp>
        <p:nvSpPr>
          <p:cNvPr id="7" name="TextBox 6">
            <a:extLst>
              <a:ext uri="{FF2B5EF4-FFF2-40B4-BE49-F238E27FC236}">
                <a16:creationId xmlns:a16="http://schemas.microsoft.com/office/drawing/2014/main" id="{09AE6E26-D192-47D6-8B92-DE5AA7AB8CF9}"/>
              </a:ext>
            </a:extLst>
          </p:cNvPr>
          <p:cNvSpPr txBox="1"/>
          <p:nvPr/>
        </p:nvSpPr>
        <p:spPr>
          <a:xfrm>
            <a:off x="5659015" y="1197037"/>
            <a:ext cx="266389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Admin login form</a:t>
            </a:r>
          </a:p>
        </p:txBody>
      </p:sp>
    </p:spTree>
    <p:extLst>
      <p:ext uri="{BB962C8B-B14F-4D97-AF65-F5344CB8AC3E}">
        <p14:creationId xmlns:p14="http://schemas.microsoft.com/office/powerpoint/2010/main" val="1750894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3F9982-CBD4-4513-AEB4-E35B63209D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0949" y="2060365"/>
            <a:ext cx="3779848" cy="3353091"/>
          </a:xfrm>
          <a:prstGeom prst="rect">
            <a:avLst/>
          </a:prstGeom>
        </p:spPr>
      </p:pic>
      <p:pic>
        <p:nvPicPr>
          <p:cNvPr id="5" name="Picture 4">
            <a:extLst>
              <a:ext uri="{FF2B5EF4-FFF2-40B4-BE49-F238E27FC236}">
                <a16:creationId xmlns:a16="http://schemas.microsoft.com/office/drawing/2014/main" id="{5ED9C02C-18C8-4547-9981-B4CD27BB92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528" y="2060364"/>
            <a:ext cx="5264803" cy="3353091"/>
          </a:xfrm>
          <a:prstGeom prst="rect">
            <a:avLst/>
          </a:prstGeom>
        </p:spPr>
      </p:pic>
    </p:spTree>
    <p:extLst>
      <p:ext uri="{BB962C8B-B14F-4D97-AF65-F5344CB8AC3E}">
        <p14:creationId xmlns:p14="http://schemas.microsoft.com/office/powerpoint/2010/main" val="2589515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0E9F762-12FF-4395-BDA6-99C0EE3E5B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677" y="2207944"/>
            <a:ext cx="3619814" cy="3337849"/>
          </a:xfrm>
          <a:prstGeom prst="rect">
            <a:avLst/>
          </a:prstGeom>
        </p:spPr>
      </p:pic>
      <p:pic>
        <p:nvPicPr>
          <p:cNvPr id="15" name="Picture 14">
            <a:extLst>
              <a:ext uri="{FF2B5EF4-FFF2-40B4-BE49-F238E27FC236}">
                <a16:creationId xmlns:a16="http://schemas.microsoft.com/office/drawing/2014/main" id="{48F2F2B6-2412-4C04-9290-9C6E243A3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10829"/>
            <a:ext cx="4343776" cy="3345470"/>
          </a:xfrm>
          <a:prstGeom prst="rect">
            <a:avLst/>
          </a:prstGeom>
        </p:spPr>
      </p:pic>
      <p:sp>
        <p:nvSpPr>
          <p:cNvPr id="16" name="TextBox 15">
            <a:extLst>
              <a:ext uri="{FF2B5EF4-FFF2-40B4-BE49-F238E27FC236}">
                <a16:creationId xmlns:a16="http://schemas.microsoft.com/office/drawing/2014/main" id="{FB7F339F-15A7-4F97-BA87-45180A8D581D}"/>
              </a:ext>
            </a:extLst>
          </p:cNvPr>
          <p:cNvSpPr txBox="1"/>
          <p:nvPr/>
        </p:nvSpPr>
        <p:spPr>
          <a:xfrm>
            <a:off x="396550" y="1312207"/>
            <a:ext cx="28318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 registration form</a:t>
            </a:r>
          </a:p>
        </p:txBody>
      </p:sp>
    </p:spTree>
    <p:extLst>
      <p:ext uri="{BB962C8B-B14F-4D97-AF65-F5344CB8AC3E}">
        <p14:creationId xmlns:p14="http://schemas.microsoft.com/office/powerpoint/2010/main" val="3241886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D2A171-5E8A-42DF-A33D-04CBE7AE0A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498" y="1535279"/>
            <a:ext cx="4580017" cy="2346256"/>
          </a:xfrm>
          <a:prstGeom prst="rect">
            <a:avLst/>
          </a:prstGeom>
        </p:spPr>
      </p:pic>
      <p:pic>
        <p:nvPicPr>
          <p:cNvPr id="5" name="Picture 4">
            <a:extLst>
              <a:ext uri="{FF2B5EF4-FFF2-40B4-BE49-F238E27FC236}">
                <a16:creationId xmlns:a16="http://schemas.microsoft.com/office/drawing/2014/main" id="{55426B15-FBE0-4325-BCC2-B91916EB6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348" y="1535279"/>
            <a:ext cx="4394787" cy="2346256"/>
          </a:xfrm>
          <a:prstGeom prst="rect">
            <a:avLst/>
          </a:prstGeom>
        </p:spPr>
      </p:pic>
      <p:pic>
        <p:nvPicPr>
          <p:cNvPr id="7" name="Picture 6">
            <a:extLst>
              <a:ext uri="{FF2B5EF4-FFF2-40B4-BE49-F238E27FC236}">
                <a16:creationId xmlns:a16="http://schemas.microsoft.com/office/drawing/2014/main" id="{003475FD-4D2E-4AC1-B36C-F8696467BB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348" y="4279104"/>
            <a:ext cx="4394787" cy="2578895"/>
          </a:xfrm>
          <a:prstGeom prst="rect">
            <a:avLst/>
          </a:prstGeom>
        </p:spPr>
      </p:pic>
      <p:pic>
        <p:nvPicPr>
          <p:cNvPr id="9" name="Picture 8">
            <a:extLst>
              <a:ext uri="{FF2B5EF4-FFF2-40B4-BE49-F238E27FC236}">
                <a16:creationId xmlns:a16="http://schemas.microsoft.com/office/drawing/2014/main" id="{6C37DC0D-9727-48E7-AA19-1F69F87E9C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2498" y="4279104"/>
            <a:ext cx="4930567" cy="2578895"/>
          </a:xfrm>
          <a:prstGeom prst="rect">
            <a:avLst/>
          </a:prstGeom>
        </p:spPr>
      </p:pic>
      <p:sp>
        <p:nvSpPr>
          <p:cNvPr id="10" name="TextBox 9">
            <a:extLst>
              <a:ext uri="{FF2B5EF4-FFF2-40B4-BE49-F238E27FC236}">
                <a16:creationId xmlns:a16="http://schemas.microsoft.com/office/drawing/2014/main" id="{7680140A-0EA8-475F-B745-A6966B439894}"/>
              </a:ext>
            </a:extLst>
          </p:cNvPr>
          <p:cNvSpPr txBox="1"/>
          <p:nvPr/>
        </p:nvSpPr>
        <p:spPr>
          <a:xfrm>
            <a:off x="554273" y="592493"/>
            <a:ext cx="687289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Search book by book </a:t>
            </a:r>
            <a:r>
              <a:rPr lang="en-US" b="1" dirty="0" err="1">
                <a:latin typeface="Times New Roman" panose="02020603050405020304" pitchFamily="18" charset="0"/>
                <a:cs typeface="Times New Roman" panose="02020603050405020304" pitchFamily="18" charset="0"/>
              </a:rPr>
              <a:t>id,publish</a:t>
            </a:r>
            <a:r>
              <a:rPr lang="en-US" b="1" dirty="0">
                <a:latin typeface="Times New Roman" panose="02020603050405020304" pitchFamily="18" charset="0"/>
                <a:cs typeface="Times New Roman" panose="02020603050405020304" pitchFamily="18" charset="0"/>
              </a:rPr>
              <a:t> datebook ,author and book title</a:t>
            </a:r>
          </a:p>
        </p:txBody>
      </p:sp>
    </p:spTree>
    <p:extLst>
      <p:ext uri="{BB962C8B-B14F-4D97-AF65-F5344CB8AC3E}">
        <p14:creationId xmlns:p14="http://schemas.microsoft.com/office/powerpoint/2010/main" val="1154537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3D9863-96D9-4617-A7E1-2AE8A6945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6860" y="932265"/>
            <a:ext cx="5069373" cy="4838220"/>
          </a:xfrm>
          <a:prstGeom prst="rect">
            <a:avLst/>
          </a:prstGeom>
        </p:spPr>
      </p:pic>
      <p:sp>
        <p:nvSpPr>
          <p:cNvPr id="4" name="TextBox 3">
            <a:extLst>
              <a:ext uri="{FF2B5EF4-FFF2-40B4-BE49-F238E27FC236}">
                <a16:creationId xmlns:a16="http://schemas.microsoft.com/office/drawing/2014/main" id="{C3CD1711-15F4-4A15-B1E1-92397DC81725}"/>
              </a:ext>
            </a:extLst>
          </p:cNvPr>
          <p:cNvSpPr txBox="1"/>
          <p:nvPr/>
        </p:nvSpPr>
        <p:spPr>
          <a:xfrm>
            <a:off x="1880118" y="405881"/>
            <a:ext cx="142291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Issue book</a:t>
            </a:r>
          </a:p>
        </p:txBody>
      </p:sp>
    </p:spTree>
    <p:extLst>
      <p:ext uri="{BB962C8B-B14F-4D97-AF65-F5344CB8AC3E}">
        <p14:creationId xmlns:p14="http://schemas.microsoft.com/office/powerpoint/2010/main" val="4088292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2692A0-511D-42D0-AACC-61CBD0D60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8583" y="1091127"/>
            <a:ext cx="4839896" cy="4732624"/>
          </a:xfrm>
          <a:prstGeom prst="rect">
            <a:avLst/>
          </a:prstGeom>
        </p:spPr>
      </p:pic>
      <p:sp>
        <p:nvSpPr>
          <p:cNvPr id="8" name="TextBox 7">
            <a:extLst>
              <a:ext uri="{FF2B5EF4-FFF2-40B4-BE49-F238E27FC236}">
                <a16:creationId xmlns:a16="http://schemas.microsoft.com/office/drawing/2014/main" id="{DE99A255-8A7D-42F8-AB17-09A05AE65612}"/>
              </a:ext>
            </a:extLst>
          </p:cNvPr>
          <p:cNvSpPr txBox="1"/>
          <p:nvPr/>
        </p:nvSpPr>
        <p:spPr>
          <a:xfrm>
            <a:off x="2281335" y="517848"/>
            <a:ext cx="168417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Return book</a:t>
            </a:r>
          </a:p>
        </p:txBody>
      </p:sp>
    </p:spTree>
    <p:extLst>
      <p:ext uri="{BB962C8B-B14F-4D97-AF65-F5344CB8AC3E}">
        <p14:creationId xmlns:p14="http://schemas.microsoft.com/office/powerpoint/2010/main" val="427665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62B29B-7CE1-4686-872A-ABEA6F76EE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0834" y="1451493"/>
            <a:ext cx="5982218" cy="4496190"/>
          </a:xfrm>
          <a:prstGeom prst="rect">
            <a:avLst/>
          </a:prstGeom>
        </p:spPr>
      </p:pic>
      <p:sp>
        <p:nvSpPr>
          <p:cNvPr id="8" name="TextBox 7">
            <a:extLst>
              <a:ext uri="{FF2B5EF4-FFF2-40B4-BE49-F238E27FC236}">
                <a16:creationId xmlns:a16="http://schemas.microsoft.com/office/drawing/2014/main" id="{FB3C4784-E135-45A3-AD16-F1E08FAB9D57}"/>
              </a:ext>
            </a:extLst>
          </p:cNvPr>
          <p:cNvSpPr txBox="1"/>
          <p:nvPr/>
        </p:nvSpPr>
        <p:spPr>
          <a:xfrm>
            <a:off x="2190490" y="725651"/>
            <a:ext cx="20362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Renew book</a:t>
            </a:r>
          </a:p>
        </p:txBody>
      </p:sp>
    </p:spTree>
    <p:extLst>
      <p:ext uri="{BB962C8B-B14F-4D97-AF65-F5344CB8AC3E}">
        <p14:creationId xmlns:p14="http://schemas.microsoft.com/office/powerpoint/2010/main" val="1897362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77768-BB0F-4A92-AEA2-5A5FC77286FE}"/>
              </a:ext>
            </a:extLst>
          </p:cNvPr>
          <p:cNvSpPr>
            <a:spLocks noGrp="1"/>
          </p:cNvSpPr>
          <p:nvPr>
            <p:ph type="title"/>
          </p:nvPr>
        </p:nvSpPr>
        <p:spPr>
          <a:xfrm>
            <a:off x="1098970" y="982998"/>
            <a:ext cx="8761413" cy="706964"/>
          </a:xfrm>
        </p:spPr>
        <p:txBody>
          <a:bodyPr/>
          <a:lstStyle/>
          <a:p>
            <a:r>
              <a:rPr lang="en-US" b="1" dirty="0">
                <a:solidFill>
                  <a:schemeClr val="accent4">
                    <a:lumMod val="75000"/>
                  </a:schemeClr>
                </a:solidFill>
              </a:rPr>
              <a:t>Scope for future Enhancement</a:t>
            </a:r>
            <a:br>
              <a:rPr lang="en-US" dirty="0">
                <a:solidFill>
                  <a:schemeClr val="accent4">
                    <a:lumMod val="75000"/>
                  </a:schemeClr>
                </a:solidFill>
              </a:rPr>
            </a:br>
            <a:endParaRPr lang="en-US" dirty="0">
              <a:solidFill>
                <a:schemeClr val="accent4">
                  <a:lumMod val="75000"/>
                </a:schemeClr>
              </a:solidFill>
            </a:endParaRPr>
          </a:p>
        </p:txBody>
      </p:sp>
      <p:sp>
        <p:nvSpPr>
          <p:cNvPr id="4" name="TextBox 3">
            <a:extLst>
              <a:ext uri="{FF2B5EF4-FFF2-40B4-BE49-F238E27FC236}">
                <a16:creationId xmlns:a16="http://schemas.microsoft.com/office/drawing/2014/main" id="{493D434B-73DB-4D5F-8978-2A3766F5BBF3}"/>
              </a:ext>
            </a:extLst>
          </p:cNvPr>
          <p:cNvSpPr txBox="1"/>
          <p:nvPr/>
        </p:nvSpPr>
        <p:spPr>
          <a:xfrm>
            <a:off x="475861" y="2621903"/>
            <a:ext cx="11075437" cy="2862322"/>
          </a:xfrm>
          <a:prstGeom prst="rect">
            <a:avLst/>
          </a:prstGeom>
          <a:noFill/>
        </p:spPr>
        <p:txBody>
          <a:bodyPr wrap="square" rtlCol="0">
            <a:spAutoFit/>
          </a:bodyPr>
          <a:lstStyle/>
          <a:p>
            <a:pPr lvl="0"/>
            <a:r>
              <a:rPr lang="en-US" dirty="0"/>
              <a:t>• It is not possible to develop a system that makes all the requirements of the user. User requirements keep changing as the system is being used .Some of the future enhancements that can be done to this systems are:</a:t>
            </a:r>
          </a:p>
          <a:p>
            <a:pPr lvl="0"/>
            <a:endParaRPr lang="en-US" dirty="0"/>
          </a:p>
          <a:p>
            <a:pPr lvl="0"/>
            <a:r>
              <a:rPr lang="en-US" dirty="0"/>
              <a:t>• As the technology emerges ,it is possible to upgrade the system and can be adaptable to desired environment.</a:t>
            </a:r>
          </a:p>
          <a:p>
            <a:pPr lvl="0"/>
            <a:endParaRPr lang="en-US" dirty="0"/>
          </a:p>
          <a:p>
            <a:pPr lvl="0"/>
            <a:r>
              <a:rPr lang="en-US" dirty="0"/>
              <a:t>• Based on the future security issues, Security can be improved using emerging technologies.</a:t>
            </a:r>
          </a:p>
          <a:p>
            <a:pPr lvl="0"/>
            <a:r>
              <a:rPr lang="en-US" dirty="0"/>
              <a:t>Sub admin module can be added.</a:t>
            </a:r>
          </a:p>
          <a:p>
            <a:endParaRPr lang="en-US" dirty="0"/>
          </a:p>
        </p:txBody>
      </p:sp>
    </p:spTree>
    <p:extLst>
      <p:ext uri="{BB962C8B-B14F-4D97-AF65-F5344CB8AC3E}">
        <p14:creationId xmlns:p14="http://schemas.microsoft.com/office/powerpoint/2010/main" val="214172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C90645-B50C-4DB4-8C02-3DCD71BC175A}"/>
              </a:ext>
            </a:extLst>
          </p:cNvPr>
          <p:cNvSpPr/>
          <p:nvPr/>
        </p:nvSpPr>
        <p:spPr>
          <a:xfrm>
            <a:off x="774595" y="755980"/>
            <a:ext cx="3570208"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Times New Roman" panose="02020603050405020304" pitchFamily="18" charset="0"/>
                <a:cs typeface="Times New Roman" panose="02020603050405020304" pitchFamily="18" charset="0"/>
              </a:rPr>
              <a:t>conclusions</a:t>
            </a:r>
          </a:p>
        </p:txBody>
      </p:sp>
      <p:sp>
        <p:nvSpPr>
          <p:cNvPr id="2" name="TextBox 1">
            <a:extLst>
              <a:ext uri="{FF2B5EF4-FFF2-40B4-BE49-F238E27FC236}">
                <a16:creationId xmlns:a16="http://schemas.microsoft.com/office/drawing/2014/main" id="{F75CB15D-5B98-4455-AEAF-FE090114E5BE}"/>
              </a:ext>
            </a:extLst>
          </p:cNvPr>
          <p:cNvSpPr txBox="1"/>
          <p:nvPr/>
        </p:nvSpPr>
        <p:spPr>
          <a:xfrm>
            <a:off x="1048035" y="2783841"/>
            <a:ext cx="8502365"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The project Library management system is for computerizing the working of library.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The Library Management system  allows the user to store the book details and the person’s details.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This software allows storing the details </a:t>
            </a:r>
            <a:r>
              <a:rPr lang="en-US" dirty="0" err="1">
                <a:latin typeface="Times New Roman" panose="02020603050405020304" pitchFamily="18" charset="0"/>
                <a:cs typeface="Times New Roman" panose="02020603050405020304" pitchFamily="18" charset="0"/>
              </a:rPr>
              <a:t>iof</a:t>
            </a:r>
            <a:r>
              <a:rPr lang="en-US" dirty="0">
                <a:latin typeface="Times New Roman" panose="02020603050405020304" pitchFamily="18" charset="0"/>
                <a:cs typeface="Times New Roman" panose="02020603050405020304" pitchFamily="18" charset="0"/>
              </a:rPr>
              <a:t> all the data related  to library.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The implementation of the system will reduce data entry time and provide readily calculated reports.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1335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22F5D-BC6C-4AF1-9269-B9C6FCB7783F}"/>
              </a:ext>
            </a:extLst>
          </p:cNvPr>
          <p:cNvSpPr/>
          <p:nvPr/>
        </p:nvSpPr>
        <p:spPr>
          <a:xfrm>
            <a:off x="3408972" y="2967335"/>
            <a:ext cx="4960588"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Tree>
    <p:extLst>
      <p:ext uri="{BB962C8B-B14F-4D97-AF65-F5344CB8AC3E}">
        <p14:creationId xmlns:p14="http://schemas.microsoft.com/office/powerpoint/2010/main" val="23145937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754</TotalTime>
  <Words>1051</Words>
  <Application>Microsoft Office PowerPoint</Application>
  <PresentationFormat>Widescreen</PresentationFormat>
  <Paragraphs>145</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vt:lpstr>
      <vt:lpstr>Century Gothic</vt:lpstr>
      <vt:lpstr>Times New Roman</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tools used</vt:lpstr>
      <vt:lpstr>SWING</vt:lpstr>
      <vt:lpstr>JAVA SWING HIERACHIE</vt:lpstr>
      <vt:lpstr>MYSQL</vt:lpstr>
      <vt:lpstr>JDBC CONNECTIVITY</vt:lpstr>
      <vt:lpstr>PowerPoint Presentation</vt:lpstr>
      <vt:lpstr>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Scope for future Enhancement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Roshan lal</dc:creator>
  <cp:lastModifiedBy>Sunny Kumar</cp:lastModifiedBy>
  <cp:revision>41</cp:revision>
  <dcterms:created xsi:type="dcterms:W3CDTF">2020-05-26T19:31:02Z</dcterms:created>
  <dcterms:modified xsi:type="dcterms:W3CDTF">2022-06-03T07:49:19Z</dcterms:modified>
</cp:coreProperties>
</file>